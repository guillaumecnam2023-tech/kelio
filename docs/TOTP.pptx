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60" r:id="rId2"/>
    <p:sldId id="262" r:id="rId3"/>
    <p:sldId id="263" r:id="rId4"/>
    <p:sldId id="264" r:id="rId5"/>
    <p:sldId id="265" r:id="rId6"/>
    <p:sldId id="266" r:id="rId7"/>
    <p:sldId id="267" r:id="rId8"/>
    <p:sldId id="269" r:id="rId9"/>
    <p:sldId id="268" r:id="rId10"/>
    <p:sldId id="270" r:id="rId11"/>
    <p:sldId id="271" r:id="rId12"/>
    <p:sldId id="273" r:id="rId13"/>
    <p:sldId id="281" r:id="rId14"/>
    <p:sldId id="274" r:id="rId15"/>
    <p:sldId id="277" r:id="rId16"/>
    <p:sldId id="278" r:id="rId17"/>
    <p:sldId id="276" r:id="rId18"/>
    <p:sldId id="280" r:id="rId19"/>
    <p:sldId id="282" r:id="rId20"/>
    <p:sldId id="27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BDF8"/>
    <a:srgbClr val="202E41"/>
    <a:srgbClr val="263447"/>
    <a:srgbClr val="273548"/>
    <a:srgbClr val="2F3D51"/>
    <a:srgbClr val="334155"/>
    <a:srgbClr val="64748B"/>
    <a:srgbClr val="7A889D"/>
    <a:srgbClr val="94A3B8"/>
    <a:srgbClr val="0C1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6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076575-1B33-4328-A7DF-AD20E8AA1386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988DD-B255-4583-A750-8E0E4E91EF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238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12/12/2025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Guillaume Cazals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C5360-89A5-4FDC-A9F4-F1FD3E73DC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5470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12/12/2025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Guillaume Cazals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C5360-89A5-4FDC-A9F4-F1FD3E73DC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1495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12/12/2025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Guillaume Cazals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C5360-89A5-4FDC-A9F4-F1FD3E73DC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8313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12/12/2025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Guillaume Cazals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C5360-89A5-4FDC-A9F4-F1FD3E73DC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639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12/12/2025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Guillaume Cazals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C5360-89A5-4FDC-A9F4-F1FD3E73DC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5253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12/12/2025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Guillaume Cazals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C5360-89A5-4FDC-A9F4-F1FD3E73DC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979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12/12/2025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Guillaume Cazals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C5360-89A5-4FDC-A9F4-F1FD3E73DC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0855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12/12/2025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Guillaume Cazals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C5360-89A5-4FDC-A9F4-F1FD3E73DC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8652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12/12/2025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Guillaume Cazals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C5360-89A5-4FDC-A9F4-F1FD3E73DC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400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12/12/2025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Guillaume Cazals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C5360-89A5-4FDC-A9F4-F1FD3E73DC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0839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12/12/2025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Guillaume Cazals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C5360-89A5-4FDC-A9F4-F1FD3E73DC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2758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12/12/2025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Guillaume Cazals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BC5360-89A5-4FDC-A9F4-F1FD3E73DC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2529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miro.com/app/board/o9J_ku0MEFw=/?moveToWidget=3458764651130826104&amp;cot=14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RFC%206238%20-%20TOTP:%20Time-Based%20One-Time%20Password%20Algorithm" TargetMode="External"/><Relationship Id="rId2" Type="http://schemas.openxmlformats.org/officeDocument/2006/relationships/hyperlink" Target="L'utilisateur%20se%20connecte%20avec%20son%20login%20/%20mot%20de%20passe%20et%20n'a%20pas%20encore%20de%20TOTP%20activ&#233;%20sur%20son%20compte.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rfc6238" TargetMode="External"/><Relationship Id="rId2" Type="http://schemas.openxmlformats.org/officeDocument/2006/relationships/hyperlink" Target="https://datatracker.ietf.org/doc/html/rfc4226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BastiaanJansen/otp-java" TargetMode="External"/><Relationship Id="rId5" Type="http://schemas.openxmlformats.org/officeDocument/2006/relationships/hyperlink" Target="https://axure.conception.ti/app/project/sgl3wi/preview/cy6rh4" TargetMode="External"/><Relationship Id="rId4" Type="http://schemas.openxmlformats.org/officeDocument/2006/relationships/hyperlink" Target="https://miro.com/app/board/o9J_ku0MEFw=/?moveToWidget=3458764651130826104&amp;cot=14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6E650F08-31D0-499B-9D3F-D6B20597A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602038"/>
            <a:ext cx="9143999" cy="405758"/>
          </a:xfrm>
        </p:spPr>
        <p:txBody>
          <a:bodyPr>
            <a:normAutofit lnSpcReduction="10000"/>
          </a:bodyPr>
          <a:lstStyle/>
          <a:p>
            <a:r>
              <a:rPr lang="fr-FR" dirty="0">
                <a:solidFill>
                  <a:srgbClr val="CBD5E1"/>
                </a:solidFill>
              </a:rPr>
              <a:t>Présentation de l'existant et de la cible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DFCA518-F676-4D16-95AA-812FF79909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4800" b="1" dirty="0">
                <a:solidFill>
                  <a:srgbClr val="38BDF8"/>
                </a:solidFill>
                <a:latin typeface="Arial" panose="020B0604020202020204" pitchFamily="34" charset="0"/>
              </a:rPr>
              <a:t>MFA dans Kelio :</a:t>
            </a:r>
            <a:br>
              <a:rPr lang="fr-FR" sz="4800" b="1" dirty="0">
                <a:solidFill>
                  <a:srgbClr val="38BDF8"/>
                </a:solidFill>
                <a:latin typeface="Arial" panose="020B0604020202020204" pitchFamily="34" charset="0"/>
              </a:rPr>
            </a:br>
            <a:r>
              <a:rPr lang="fr-FR" sz="4800" b="1" dirty="0">
                <a:solidFill>
                  <a:srgbClr val="38BDF8"/>
                </a:solidFill>
                <a:latin typeface="Arial" panose="020B0604020202020204" pitchFamily="34" charset="0"/>
              </a:rPr>
              <a:t>de HOTP e‑mail à TOTP</a:t>
            </a:r>
            <a:br>
              <a:rPr lang="fr-FR" sz="4800" b="1" dirty="0">
                <a:solidFill>
                  <a:srgbClr val="38BDF8"/>
                </a:solidFill>
                <a:latin typeface="Arial" panose="020B0604020202020204" pitchFamily="34" charset="0"/>
              </a:rPr>
            </a:br>
            <a:endParaRPr lang="fr-FR" sz="4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9E0E18-1E22-48D4-A2BA-534FF80BA0A3}"/>
              </a:ext>
            </a:extLst>
          </p:cNvPr>
          <p:cNvSpPr/>
          <p:nvPr/>
        </p:nvSpPr>
        <p:spPr>
          <a:xfrm>
            <a:off x="1523999" y="4290836"/>
            <a:ext cx="91439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solidFill>
                  <a:srgbClr val="94A3B8"/>
                </a:solidFill>
                <a:latin typeface="Arial" panose="020B0604020202020204" pitchFamily="34" charset="0"/>
              </a:rPr>
              <a:t>Projet MFA TOTP — Équipe Besoin Opérationnel</a:t>
            </a:r>
            <a:endParaRPr lang="fr-FR" sz="1400" dirty="0">
              <a:solidFill>
                <a:srgbClr val="94A3B8"/>
              </a:solidFill>
            </a:endParaRPr>
          </a:p>
        </p:txBody>
      </p:sp>
      <p:sp>
        <p:nvSpPr>
          <p:cNvPr id="14" name="Espace réservé de la date 5">
            <a:extLst>
              <a:ext uri="{FF2B5EF4-FFF2-40B4-BE49-F238E27FC236}">
                <a16:creationId xmlns:a16="http://schemas.microsoft.com/office/drawing/2014/main" id="{C441865A-583D-4433-8785-3AEF13C2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4"/>
            <a:ext cx="2743200" cy="365125"/>
          </a:xfrm>
        </p:spPr>
        <p:txBody>
          <a:bodyPr/>
          <a:lstStyle/>
          <a:p>
            <a:fld id="{331479F7-D70E-4412-94F3-A6C320B143F3}" type="datetime1">
              <a:rPr lang="fr-FR" smtClean="0">
                <a:solidFill>
                  <a:srgbClr val="94A3B8"/>
                </a:solidFill>
              </a:rPr>
              <a:t>06/01/2026</a:t>
            </a:fld>
            <a:endParaRPr lang="fr-FR" dirty="0">
              <a:solidFill>
                <a:srgbClr val="94A3B8"/>
              </a:solidFill>
            </a:endParaRPr>
          </a:p>
        </p:txBody>
      </p:sp>
      <p:sp>
        <p:nvSpPr>
          <p:cNvPr id="15" name="Espace réservé du pied de page 6">
            <a:extLst>
              <a:ext uri="{FF2B5EF4-FFF2-40B4-BE49-F238E27FC236}">
                <a16:creationId xmlns:a16="http://schemas.microsoft.com/office/drawing/2014/main" id="{35522E17-6037-4CB3-8EDB-0332DCAB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3998" y="6492875"/>
            <a:ext cx="2743201" cy="365125"/>
          </a:xfrm>
          <a:noFill/>
        </p:spPr>
        <p:txBody>
          <a:bodyPr/>
          <a:lstStyle/>
          <a:p>
            <a:pPr algn="r"/>
            <a:r>
              <a:rPr lang="fr-FR" sz="1400" dirty="0">
                <a:solidFill>
                  <a:srgbClr val="94A3B8"/>
                </a:solidFill>
              </a:rPr>
              <a:t>Guillaume</a:t>
            </a:r>
            <a:r>
              <a:rPr lang="fr-FR" dirty="0">
                <a:solidFill>
                  <a:srgbClr val="94A3B8"/>
                </a:solidFill>
              </a:rPr>
              <a:t> Cazals</a:t>
            </a:r>
          </a:p>
        </p:txBody>
      </p:sp>
    </p:spTree>
    <p:extLst>
      <p:ext uri="{BB962C8B-B14F-4D97-AF65-F5344CB8AC3E}">
        <p14:creationId xmlns:p14="http://schemas.microsoft.com/office/powerpoint/2010/main" val="3184474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3000">
              <a:srgbClr val="202E41"/>
            </a:gs>
            <a:gs pos="100000">
              <a:srgbClr val="0C17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6E650F08-31D0-499B-9D3F-D6B20597A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077" y="2794642"/>
            <a:ext cx="11410122" cy="3698232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/>
              <a:t>Partager l'état des lieux du MFA actuel dans Kelio (HOTP avec envoi de code par e‑mail).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/>
              <a:t>Expliquer comment la librairie </a:t>
            </a:r>
            <a:r>
              <a:rPr lang="fr-FR" b="1" dirty="0"/>
              <a:t>otp-java</a:t>
            </a:r>
            <a:r>
              <a:rPr lang="fr-FR" dirty="0"/>
              <a:t> (Bastiaan Jansen) est utilisée pour générer les OTP.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/>
              <a:t>Poser les bases fonctionnelles et techniques de la cible </a:t>
            </a:r>
            <a:r>
              <a:rPr lang="fr-FR" b="1" dirty="0"/>
              <a:t>TOTP</a:t>
            </a:r>
            <a:r>
              <a:rPr lang="fr-FR" dirty="0"/>
              <a:t> à implémenter.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/>
              <a:t>Aligner l'équipe sur les enjeux de sécurité et d'expérience utilisateur.</a:t>
            </a:r>
          </a:p>
          <a:p>
            <a:endParaRPr lang="fr-FR" dirty="0">
              <a:solidFill>
                <a:srgbClr val="CBD5E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DFCA518-F676-4D16-95AA-812FF7990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122363"/>
            <a:ext cx="10623330" cy="1134454"/>
          </a:xfrm>
        </p:spPr>
        <p:txBody>
          <a:bodyPr>
            <a:normAutofit/>
          </a:bodyPr>
          <a:lstStyle/>
          <a:p>
            <a:pPr algn="l"/>
            <a:r>
              <a:rPr lang="fr-FR" sz="3600" b="1" dirty="0">
                <a:solidFill>
                  <a:srgbClr val="38BDF8"/>
                </a:solidFill>
                <a:latin typeface="Arial" panose="020B0604020202020204" pitchFamily="34" charset="0"/>
              </a:rPr>
              <a:t>Objectifs de la présentation</a:t>
            </a:r>
            <a:endParaRPr lang="fr-FR" sz="3600" dirty="0"/>
          </a:p>
        </p:txBody>
      </p:sp>
      <p:sp>
        <p:nvSpPr>
          <p:cNvPr id="14" name="Espace réservé de la date 5">
            <a:extLst>
              <a:ext uri="{FF2B5EF4-FFF2-40B4-BE49-F238E27FC236}">
                <a16:creationId xmlns:a16="http://schemas.microsoft.com/office/drawing/2014/main" id="{C441865A-583D-4433-8785-3AEF13C2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4"/>
            <a:ext cx="2743200" cy="365125"/>
          </a:xfrm>
        </p:spPr>
        <p:txBody>
          <a:bodyPr/>
          <a:lstStyle/>
          <a:p>
            <a:fld id="{331479F7-D70E-4412-94F3-A6C320B143F3}" type="datetime1">
              <a:rPr lang="fr-FR" smtClean="0">
                <a:solidFill>
                  <a:srgbClr val="94A3B8"/>
                </a:solidFill>
              </a:rPr>
              <a:t>06/01/2026</a:t>
            </a:fld>
            <a:endParaRPr lang="fr-FR" dirty="0">
              <a:solidFill>
                <a:srgbClr val="94A3B8"/>
              </a:solidFill>
            </a:endParaRPr>
          </a:p>
        </p:txBody>
      </p:sp>
      <p:sp>
        <p:nvSpPr>
          <p:cNvPr id="15" name="Espace réservé du pied de page 6">
            <a:extLst>
              <a:ext uri="{FF2B5EF4-FFF2-40B4-BE49-F238E27FC236}">
                <a16:creationId xmlns:a16="http://schemas.microsoft.com/office/drawing/2014/main" id="{35522E17-6037-4CB3-8EDB-0332DCAB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3998" y="6492875"/>
            <a:ext cx="2743201" cy="365125"/>
          </a:xfrm>
          <a:noFill/>
        </p:spPr>
        <p:txBody>
          <a:bodyPr/>
          <a:lstStyle/>
          <a:p>
            <a:pPr algn="r"/>
            <a:r>
              <a:rPr lang="fr-FR" sz="1400" dirty="0">
                <a:solidFill>
                  <a:srgbClr val="94A3B8"/>
                </a:solidFill>
              </a:rPr>
              <a:t>Guillaume</a:t>
            </a:r>
            <a:r>
              <a:rPr lang="fr-FR" dirty="0">
                <a:solidFill>
                  <a:srgbClr val="94A3B8"/>
                </a:solidFill>
              </a:rPr>
              <a:t> Cazals</a:t>
            </a:r>
          </a:p>
        </p:txBody>
      </p:sp>
      <p:sp>
        <p:nvSpPr>
          <p:cNvPr id="16" name="Espace réservé du numéro de diapositive 7">
            <a:extLst>
              <a:ext uri="{FF2B5EF4-FFF2-40B4-BE49-F238E27FC236}">
                <a16:creationId xmlns:a16="http://schemas.microsoft.com/office/drawing/2014/main" id="{29CD26B4-320A-46D0-AC9B-D786DCB09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399" y="6477590"/>
            <a:ext cx="2743200" cy="357482"/>
          </a:xfrm>
        </p:spPr>
        <p:txBody>
          <a:bodyPr/>
          <a:lstStyle/>
          <a:p>
            <a:pPr algn="ctr"/>
            <a:r>
              <a:rPr lang="fr-FR" sz="1400" b="1" dirty="0">
                <a:solidFill>
                  <a:srgbClr val="38BDF8"/>
                </a:solidFill>
              </a:rPr>
              <a:t>1 / 19</a:t>
            </a:r>
          </a:p>
        </p:txBody>
      </p:sp>
    </p:spTree>
    <p:extLst>
      <p:ext uri="{BB962C8B-B14F-4D97-AF65-F5344CB8AC3E}">
        <p14:creationId xmlns:p14="http://schemas.microsoft.com/office/powerpoint/2010/main" val="492966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3000">
              <a:srgbClr val="202E41"/>
            </a:gs>
            <a:gs pos="100000">
              <a:srgbClr val="0C17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6E650F08-31D0-499B-9D3F-D6B20597A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41" y="2794642"/>
            <a:ext cx="11490958" cy="3698232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Kelio est un logiciel SIRH / gestion des temps avec des comptes utilisateurs sensibles (données RH, paie, temps de présence…).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Un MFA est déjà disponible : génération d'un code HOTP envoyé par e‑mail à l'utilisateur.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Ce mécanisme renforce la sécurité par rapport au simple mot de passe, mais montre des limites (latence e‑mail, dépendance à la messagerie…).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L'entreprise souhaite évoluer vers un MFA TOTP plus standard (Google Authenticator, etc.).</a:t>
            </a:r>
            <a:endParaRPr lang="fr-FR" sz="2200" dirty="0">
              <a:solidFill>
                <a:srgbClr val="CBD5E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DFCA518-F676-4D16-95AA-812FF7990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9829800" cy="1134454"/>
          </a:xfrm>
        </p:spPr>
        <p:txBody>
          <a:bodyPr>
            <a:normAutofit/>
          </a:bodyPr>
          <a:lstStyle/>
          <a:p>
            <a:pPr algn="l"/>
            <a:r>
              <a:rPr lang="fr-FR" sz="3600" b="1" dirty="0">
                <a:solidFill>
                  <a:srgbClr val="38BDF8"/>
                </a:solidFill>
                <a:latin typeface="Arial" panose="020B0604020202020204" pitchFamily="34" charset="0"/>
              </a:rPr>
              <a:t>Contexte général du MFA dans Kelio</a:t>
            </a:r>
            <a:endParaRPr lang="fr-FR" sz="3600" dirty="0"/>
          </a:p>
        </p:txBody>
      </p:sp>
      <p:sp>
        <p:nvSpPr>
          <p:cNvPr id="14" name="Espace réservé de la date 5">
            <a:extLst>
              <a:ext uri="{FF2B5EF4-FFF2-40B4-BE49-F238E27FC236}">
                <a16:creationId xmlns:a16="http://schemas.microsoft.com/office/drawing/2014/main" id="{C441865A-583D-4433-8785-3AEF13C2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4"/>
            <a:ext cx="2743200" cy="365125"/>
          </a:xfrm>
        </p:spPr>
        <p:txBody>
          <a:bodyPr/>
          <a:lstStyle/>
          <a:p>
            <a:fld id="{331479F7-D70E-4412-94F3-A6C320B143F3}" type="datetime1">
              <a:rPr lang="fr-FR" smtClean="0">
                <a:solidFill>
                  <a:srgbClr val="94A3B8"/>
                </a:solidFill>
              </a:rPr>
              <a:t>06/01/2026</a:t>
            </a:fld>
            <a:endParaRPr lang="fr-FR" dirty="0">
              <a:solidFill>
                <a:srgbClr val="94A3B8"/>
              </a:solidFill>
            </a:endParaRPr>
          </a:p>
        </p:txBody>
      </p:sp>
      <p:sp>
        <p:nvSpPr>
          <p:cNvPr id="15" name="Espace réservé du pied de page 6">
            <a:extLst>
              <a:ext uri="{FF2B5EF4-FFF2-40B4-BE49-F238E27FC236}">
                <a16:creationId xmlns:a16="http://schemas.microsoft.com/office/drawing/2014/main" id="{35522E17-6037-4CB3-8EDB-0332DCAB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3998" y="6492875"/>
            <a:ext cx="2743201" cy="365125"/>
          </a:xfrm>
          <a:noFill/>
        </p:spPr>
        <p:txBody>
          <a:bodyPr/>
          <a:lstStyle/>
          <a:p>
            <a:pPr algn="r"/>
            <a:r>
              <a:rPr lang="fr-FR" sz="1400" dirty="0">
                <a:solidFill>
                  <a:srgbClr val="94A3B8"/>
                </a:solidFill>
              </a:rPr>
              <a:t>Guillaume</a:t>
            </a:r>
            <a:r>
              <a:rPr lang="fr-FR" dirty="0">
                <a:solidFill>
                  <a:srgbClr val="94A3B8"/>
                </a:solidFill>
              </a:rPr>
              <a:t> Cazals</a:t>
            </a:r>
          </a:p>
        </p:txBody>
      </p:sp>
      <p:sp>
        <p:nvSpPr>
          <p:cNvPr id="16" name="Espace réservé du numéro de diapositive 7">
            <a:extLst>
              <a:ext uri="{FF2B5EF4-FFF2-40B4-BE49-F238E27FC236}">
                <a16:creationId xmlns:a16="http://schemas.microsoft.com/office/drawing/2014/main" id="{29CD26B4-320A-46D0-AC9B-D786DCB09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399" y="6477590"/>
            <a:ext cx="2743200" cy="357482"/>
          </a:xfrm>
        </p:spPr>
        <p:txBody>
          <a:bodyPr/>
          <a:lstStyle/>
          <a:p>
            <a:pPr algn="ctr"/>
            <a:r>
              <a:rPr lang="fr-FR" sz="1400" b="1" dirty="0">
                <a:solidFill>
                  <a:srgbClr val="38BDF8"/>
                </a:solidFill>
              </a:rPr>
              <a:t>2 / 19</a:t>
            </a:r>
          </a:p>
        </p:txBody>
      </p:sp>
    </p:spTree>
    <p:extLst>
      <p:ext uri="{BB962C8B-B14F-4D97-AF65-F5344CB8AC3E}">
        <p14:creationId xmlns:p14="http://schemas.microsoft.com/office/powerpoint/2010/main" val="305776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3000">
              <a:srgbClr val="202E41"/>
            </a:gs>
            <a:gs pos="100000">
              <a:srgbClr val="0C17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6E650F08-31D0-499B-9D3F-D6B20597A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1" y="2794642"/>
            <a:ext cx="11521438" cy="3682948"/>
          </a:xfrm>
        </p:spPr>
        <p:txBody>
          <a:bodyPr>
            <a:noAutofit/>
          </a:bodyPr>
          <a:lstStyle/>
          <a:p>
            <a:pPr algn="l"/>
            <a:r>
              <a:rPr lang="fr-FR" sz="2200" dirty="0"/>
              <a:t>HOTP = HMAC-Based One-Time Password : le code est dérivé d'un secret partagé et d'un compteur.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fr-FR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Entrées principales : secret partagé K et compteur C (entier qui augmente).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Calcul du HMAC (SHA‑1 par défaut), puis dynamic truncation et réduction modulo 10^d.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Le serveur doit gérer la resynchronisation du compteur (fenêtre d'acceptation s, limitation des tentatives…).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Adapté aux cas où le serveur contrôle le rythme de génération des OTP (ex. : envoi de code par e‑mail).</a:t>
            </a:r>
            <a:endParaRPr lang="fr-FR" sz="2200" dirty="0">
              <a:solidFill>
                <a:srgbClr val="CBD5E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DFCA518-F676-4D16-95AA-812FF7990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9829800" cy="1134454"/>
          </a:xfrm>
        </p:spPr>
        <p:txBody>
          <a:bodyPr>
            <a:normAutofit/>
          </a:bodyPr>
          <a:lstStyle/>
          <a:p>
            <a:pPr algn="l"/>
            <a:r>
              <a:rPr lang="fr-FR" sz="3600" b="1" dirty="0">
                <a:solidFill>
                  <a:srgbClr val="38BDF8"/>
                </a:solidFill>
                <a:latin typeface="Arial" panose="020B0604020202020204" pitchFamily="34" charset="0"/>
              </a:rPr>
              <a:t>Rappel : HOTP (RFC 4226)</a:t>
            </a:r>
            <a:endParaRPr lang="fr-FR" sz="3600" dirty="0"/>
          </a:p>
        </p:txBody>
      </p:sp>
      <p:sp>
        <p:nvSpPr>
          <p:cNvPr id="14" name="Espace réservé de la date 5">
            <a:extLst>
              <a:ext uri="{FF2B5EF4-FFF2-40B4-BE49-F238E27FC236}">
                <a16:creationId xmlns:a16="http://schemas.microsoft.com/office/drawing/2014/main" id="{C441865A-583D-4433-8785-3AEF13C2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4"/>
            <a:ext cx="2743200" cy="365125"/>
          </a:xfrm>
        </p:spPr>
        <p:txBody>
          <a:bodyPr/>
          <a:lstStyle/>
          <a:p>
            <a:fld id="{331479F7-D70E-4412-94F3-A6C320B143F3}" type="datetime1">
              <a:rPr lang="fr-FR" smtClean="0">
                <a:solidFill>
                  <a:srgbClr val="94A3B8"/>
                </a:solidFill>
              </a:rPr>
              <a:t>06/01/2026</a:t>
            </a:fld>
            <a:endParaRPr lang="fr-FR" dirty="0">
              <a:solidFill>
                <a:srgbClr val="94A3B8"/>
              </a:solidFill>
            </a:endParaRPr>
          </a:p>
        </p:txBody>
      </p:sp>
      <p:sp>
        <p:nvSpPr>
          <p:cNvPr id="15" name="Espace réservé du pied de page 6">
            <a:extLst>
              <a:ext uri="{FF2B5EF4-FFF2-40B4-BE49-F238E27FC236}">
                <a16:creationId xmlns:a16="http://schemas.microsoft.com/office/drawing/2014/main" id="{35522E17-6037-4CB3-8EDB-0332DCAB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3998" y="6492875"/>
            <a:ext cx="2743201" cy="365125"/>
          </a:xfrm>
          <a:noFill/>
        </p:spPr>
        <p:txBody>
          <a:bodyPr/>
          <a:lstStyle/>
          <a:p>
            <a:pPr algn="r"/>
            <a:r>
              <a:rPr lang="fr-FR" sz="1400" dirty="0">
                <a:solidFill>
                  <a:srgbClr val="94A3B8"/>
                </a:solidFill>
              </a:rPr>
              <a:t>Guillaume</a:t>
            </a:r>
            <a:r>
              <a:rPr lang="fr-FR" dirty="0">
                <a:solidFill>
                  <a:srgbClr val="94A3B8"/>
                </a:solidFill>
              </a:rPr>
              <a:t> Cazals</a:t>
            </a:r>
          </a:p>
        </p:txBody>
      </p:sp>
      <p:sp>
        <p:nvSpPr>
          <p:cNvPr id="16" name="Espace réservé du numéro de diapositive 7">
            <a:extLst>
              <a:ext uri="{FF2B5EF4-FFF2-40B4-BE49-F238E27FC236}">
                <a16:creationId xmlns:a16="http://schemas.microsoft.com/office/drawing/2014/main" id="{29CD26B4-320A-46D0-AC9B-D786DCB09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399" y="6477590"/>
            <a:ext cx="2743200" cy="357482"/>
          </a:xfrm>
        </p:spPr>
        <p:txBody>
          <a:bodyPr/>
          <a:lstStyle/>
          <a:p>
            <a:pPr algn="ctr"/>
            <a:r>
              <a:rPr lang="fr-FR" sz="1400" b="1" dirty="0">
                <a:solidFill>
                  <a:srgbClr val="38BDF8"/>
                </a:solidFill>
              </a:rPr>
              <a:t>3 / 19</a:t>
            </a:r>
          </a:p>
        </p:txBody>
      </p:sp>
    </p:spTree>
    <p:extLst>
      <p:ext uri="{BB962C8B-B14F-4D97-AF65-F5344CB8AC3E}">
        <p14:creationId xmlns:p14="http://schemas.microsoft.com/office/powerpoint/2010/main" val="1226878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3000">
              <a:srgbClr val="202E41"/>
            </a:gs>
            <a:gs pos="100000">
              <a:srgbClr val="0C17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6E650F08-31D0-499B-9D3F-D6B20597A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2794642"/>
            <a:ext cx="11551919" cy="3698232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/>
              <a:t>L'utilisateur saisit son identifiant et son mot de passe sur l'interface de connexion Kelio.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/>
              <a:t>Si le MFA est activé pour ce compte, Kelio génère un code </a:t>
            </a:r>
            <a:r>
              <a:rPr lang="fr-FR" b="1" dirty="0"/>
              <a:t>HOTP</a:t>
            </a:r>
            <a:r>
              <a:rPr lang="fr-FR" dirty="0"/>
              <a:t> à usage unique.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/>
              <a:t>Le code est envoyé par e‑mail à l'adresse professionnelle associée au compte utilisateur.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/>
              <a:t>L'utilisateur recopie le code reçu dans l'écran de vérification Kelio pour finaliser l'authentification dans un délai défini en ?dur? de 5 minutes.</a:t>
            </a:r>
            <a:endParaRPr lang="fr-FR" dirty="0">
              <a:solidFill>
                <a:srgbClr val="CBD5E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DFCA518-F676-4D16-95AA-812FF7990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122363"/>
            <a:ext cx="10260724" cy="1134454"/>
          </a:xfrm>
        </p:spPr>
        <p:txBody>
          <a:bodyPr>
            <a:normAutofit/>
          </a:bodyPr>
          <a:lstStyle/>
          <a:p>
            <a:pPr algn="l"/>
            <a:r>
              <a:rPr lang="fr-FR" sz="3600" b="1" dirty="0">
                <a:solidFill>
                  <a:srgbClr val="38BDF8"/>
                </a:solidFill>
                <a:latin typeface="Arial" panose="020B0604020202020204" pitchFamily="34" charset="0"/>
              </a:rPr>
              <a:t>MFA actuel dans Kelio : vue fonctionnelle</a:t>
            </a:r>
            <a:endParaRPr lang="fr-FR" sz="3600" dirty="0"/>
          </a:p>
        </p:txBody>
      </p:sp>
      <p:sp>
        <p:nvSpPr>
          <p:cNvPr id="14" name="Espace réservé de la date 5">
            <a:extLst>
              <a:ext uri="{FF2B5EF4-FFF2-40B4-BE49-F238E27FC236}">
                <a16:creationId xmlns:a16="http://schemas.microsoft.com/office/drawing/2014/main" id="{C441865A-583D-4433-8785-3AEF13C2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4"/>
            <a:ext cx="2743200" cy="365125"/>
          </a:xfrm>
        </p:spPr>
        <p:txBody>
          <a:bodyPr/>
          <a:lstStyle/>
          <a:p>
            <a:fld id="{331479F7-D70E-4412-94F3-A6C320B143F3}" type="datetime1">
              <a:rPr lang="fr-FR" smtClean="0">
                <a:solidFill>
                  <a:srgbClr val="94A3B8"/>
                </a:solidFill>
              </a:rPr>
              <a:t>06/01/2026</a:t>
            </a:fld>
            <a:endParaRPr lang="fr-FR" dirty="0">
              <a:solidFill>
                <a:srgbClr val="94A3B8"/>
              </a:solidFill>
            </a:endParaRPr>
          </a:p>
        </p:txBody>
      </p:sp>
      <p:sp>
        <p:nvSpPr>
          <p:cNvPr id="15" name="Espace réservé du pied de page 6">
            <a:extLst>
              <a:ext uri="{FF2B5EF4-FFF2-40B4-BE49-F238E27FC236}">
                <a16:creationId xmlns:a16="http://schemas.microsoft.com/office/drawing/2014/main" id="{35522E17-6037-4CB3-8EDB-0332DCAB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3998" y="6492875"/>
            <a:ext cx="2743201" cy="365125"/>
          </a:xfrm>
          <a:noFill/>
        </p:spPr>
        <p:txBody>
          <a:bodyPr/>
          <a:lstStyle/>
          <a:p>
            <a:pPr algn="r"/>
            <a:r>
              <a:rPr lang="fr-FR" sz="1400" dirty="0">
                <a:solidFill>
                  <a:srgbClr val="94A3B8"/>
                </a:solidFill>
              </a:rPr>
              <a:t>Guillaume</a:t>
            </a:r>
            <a:r>
              <a:rPr lang="fr-FR" dirty="0">
                <a:solidFill>
                  <a:srgbClr val="94A3B8"/>
                </a:solidFill>
              </a:rPr>
              <a:t> Cazals</a:t>
            </a:r>
          </a:p>
        </p:txBody>
      </p:sp>
      <p:sp>
        <p:nvSpPr>
          <p:cNvPr id="16" name="Espace réservé du numéro de diapositive 7">
            <a:extLst>
              <a:ext uri="{FF2B5EF4-FFF2-40B4-BE49-F238E27FC236}">
                <a16:creationId xmlns:a16="http://schemas.microsoft.com/office/drawing/2014/main" id="{29CD26B4-320A-46D0-AC9B-D786DCB09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399" y="6477590"/>
            <a:ext cx="2743200" cy="357482"/>
          </a:xfrm>
        </p:spPr>
        <p:txBody>
          <a:bodyPr/>
          <a:lstStyle/>
          <a:p>
            <a:pPr algn="ctr"/>
            <a:r>
              <a:rPr lang="fr-FR" sz="1400" b="1" dirty="0">
                <a:solidFill>
                  <a:srgbClr val="38BDF8"/>
                </a:solidFill>
              </a:rPr>
              <a:t>4 / 19</a:t>
            </a:r>
          </a:p>
        </p:txBody>
      </p:sp>
    </p:spTree>
    <p:extLst>
      <p:ext uri="{BB962C8B-B14F-4D97-AF65-F5344CB8AC3E}">
        <p14:creationId xmlns:p14="http://schemas.microsoft.com/office/powerpoint/2010/main" val="2291031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3000">
              <a:srgbClr val="202E41"/>
            </a:gs>
            <a:gs pos="100000">
              <a:srgbClr val="0C17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6E650F08-31D0-499B-9D3F-D6B20597A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" y="2794642"/>
            <a:ext cx="11582399" cy="3682948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Utilisation de la librairie Java otp-java de Bastiaan Jansen (HOTP &amp; TOTP conformes RFC 4226 / 6238).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Génération du secret côté serveur, stocké de manière sécurisée et associé au compte Kelio.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Création d'un générateur HOTP configuré (longueur du code, algorithme HMAC, etc.).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Génération du code OTP sur la base du compteur, puis envoi via la configuration de messagerie de Kelio.</a:t>
            </a:r>
            <a:endParaRPr lang="fr-FR" sz="2200" dirty="0">
              <a:solidFill>
                <a:srgbClr val="CBD5E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DFCA518-F676-4D16-95AA-812FF7990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122363"/>
            <a:ext cx="10260724" cy="1134454"/>
          </a:xfrm>
        </p:spPr>
        <p:txBody>
          <a:bodyPr>
            <a:normAutofit/>
          </a:bodyPr>
          <a:lstStyle/>
          <a:p>
            <a:pPr algn="l"/>
            <a:r>
              <a:rPr lang="fr-FR" sz="3600" b="1" dirty="0">
                <a:solidFill>
                  <a:srgbClr val="38BDF8"/>
                </a:solidFill>
                <a:latin typeface="Arial" panose="020B0604020202020204" pitchFamily="34" charset="0"/>
              </a:rPr>
              <a:t>MFA actuel Kelio : aspects techniques</a:t>
            </a:r>
            <a:endParaRPr lang="fr-FR" sz="3600" dirty="0"/>
          </a:p>
        </p:txBody>
      </p:sp>
      <p:sp>
        <p:nvSpPr>
          <p:cNvPr id="14" name="Espace réservé de la date 5">
            <a:extLst>
              <a:ext uri="{FF2B5EF4-FFF2-40B4-BE49-F238E27FC236}">
                <a16:creationId xmlns:a16="http://schemas.microsoft.com/office/drawing/2014/main" id="{C441865A-583D-4433-8785-3AEF13C2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4"/>
            <a:ext cx="2743200" cy="365125"/>
          </a:xfrm>
        </p:spPr>
        <p:txBody>
          <a:bodyPr/>
          <a:lstStyle/>
          <a:p>
            <a:fld id="{331479F7-D70E-4412-94F3-A6C320B143F3}" type="datetime1">
              <a:rPr lang="fr-FR" smtClean="0">
                <a:solidFill>
                  <a:srgbClr val="94A3B8"/>
                </a:solidFill>
              </a:rPr>
              <a:t>06/01/2026</a:t>
            </a:fld>
            <a:endParaRPr lang="fr-FR" dirty="0">
              <a:solidFill>
                <a:srgbClr val="94A3B8"/>
              </a:solidFill>
            </a:endParaRPr>
          </a:p>
        </p:txBody>
      </p:sp>
      <p:sp>
        <p:nvSpPr>
          <p:cNvPr id="15" name="Espace réservé du pied de page 6">
            <a:extLst>
              <a:ext uri="{FF2B5EF4-FFF2-40B4-BE49-F238E27FC236}">
                <a16:creationId xmlns:a16="http://schemas.microsoft.com/office/drawing/2014/main" id="{35522E17-6037-4CB3-8EDB-0332DCAB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3998" y="6492875"/>
            <a:ext cx="2743201" cy="365125"/>
          </a:xfrm>
          <a:noFill/>
        </p:spPr>
        <p:txBody>
          <a:bodyPr/>
          <a:lstStyle/>
          <a:p>
            <a:pPr algn="r"/>
            <a:r>
              <a:rPr lang="fr-FR" sz="1400" dirty="0">
                <a:solidFill>
                  <a:srgbClr val="94A3B8"/>
                </a:solidFill>
              </a:rPr>
              <a:t>Guillaume</a:t>
            </a:r>
            <a:r>
              <a:rPr lang="fr-FR" dirty="0">
                <a:solidFill>
                  <a:srgbClr val="94A3B8"/>
                </a:solidFill>
              </a:rPr>
              <a:t> Cazals</a:t>
            </a:r>
          </a:p>
        </p:txBody>
      </p:sp>
      <p:sp>
        <p:nvSpPr>
          <p:cNvPr id="16" name="Espace réservé du numéro de diapositive 7">
            <a:extLst>
              <a:ext uri="{FF2B5EF4-FFF2-40B4-BE49-F238E27FC236}">
                <a16:creationId xmlns:a16="http://schemas.microsoft.com/office/drawing/2014/main" id="{29CD26B4-320A-46D0-AC9B-D786DCB09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399" y="6477590"/>
            <a:ext cx="2743200" cy="357482"/>
          </a:xfrm>
        </p:spPr>
        <p:txBody>
          <a:bodyPr/>
          <a:lstStyle/>
          <a:p>
            <a:pPr algn="ctr"/>
            <a:r>
              <a:rPr lang="fr-FR" sz="1400" b="1" dirty="0">
                <a:solidFill>
                  <a:srgbClr val="38BDF8"/>
                </a:solidFill>
              </a:rPr>
              <a:t>5 / 19</a:t>
            </a:r>
          </a:p>
        </p:txBody>
      </p:sp>
    </p:spTree>
    <p:extLst>
      <p:ext uri="{BB962C8B-B14F-4D97-AF65-F5344CB8AC3E}">
        <p14:creationId xmlns:p14="http://schemas.microsoft.com/office/powerpoint/2010/main" val="696176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3000">
              <a:srgbClr val="202E41"/>
            </a:gs>
            <a:gs pos="100000">
              <a:srgbClr val="0C17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6E650F08-31D0-499B-9D3F-D6B20597A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6780" y="2794642"/>
            <a:ext cx="11590420" cy="1806542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Implémentation basée sur une librairie standard, maintenue et conforme aux RFC (</a:t>
            </a:r>
            <a:r>
              <a:rPr lang="fr-FR" sz="2200" dirty="0" err="1"/>
              <a:t>otp</a:t>
            </a:r>
            <a:r>
              <a:rPr lang="fr-FR" sz="2200" dirty="0"/>
              <a:t>-java).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Expérience utilisateur simple : aucun déploiement d'application d'authentification requis.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Intégration déjà en place dans les parcours de connexion Kelio.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Amélioration notable de la sécurité par rapport au simple couple login / mot de passe.</a:t>
            </a:r>
            <a:endParaRPr lang="fr-FR" sz="2200" dirty="0">
              <a:solidFill>
                <a:srgbClr val="CBD5E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DFCA518-F676-4D16-95AA-812FF7990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122363"/>
            <a:ext cx="10260724" cy="1134454"/>
          </a:xfrm>
        </p:spPr>
        <p:txBody>
          <a:bodyPr>
            <a:normAutofit/>
          </a:bodyPr>
          <a:lstStyle/>
          <a:p>
            <a:pPr algn="l"/>
            <a:r>
              <a:rPr lang="fr-FR" sz="3600" b="1" dirty="0">
                <a:solidFill>
                  <a:srgbClr val="38BDF8"/>
                </a:solidFill>
                <a:latin typeface="Arial" panose="020B0604020202020204" pitchFamily="34" charset="0"/>
              </a:rPr>
              <a:t>Points forts du MFA actuel</a:t>
            </a:r>
            <a:endParaRPr lang="fr-FR" sz="3600" dirty="0"/>
          </a:p>
        </p:txBody>
      </p:sp>
      <p:sp>
        <p:nvSpPr>
          <p:cNvPr id="14" name="Espace réservé de la date 5">
            <a:extLst>
              <a:ext uri="{FF2B5EF4-FFF2-40B4-BE49-F238E27FC236}">
                <a16:creationId xmlns:a16="http://schemas.microsoft.com/office/drawing/2014/main" id="{C441865A-583D-4433-8785-3AEF13C2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4"/>
            <a:ext cx="2743200" cy="365125"/>
          </a:xfrm>
        </p:spPr>
        <p:txBody>
          <a:bodyPr/>
          <a:lstStyle/>
          <a:p>
            <a:fld id="{331479F7-D70E-4412-94F3-A6C320B143F3}" type="datetime1">
              <a:rPr lang="fr-FR" smtClean="0">
                <a:solidFill>
                  <a:srgbClr val="94A3B8"/>
                </a:solidFill>
              </a:rPr>
              <a:t>06/01/2026</a:t>
            </a:fld>
            <a:endParaRPr lang="fr-FR" dirty="0">
              <a:solidFill>
                <a:srgbClr val="94A3B8"/>
              </a:solidFill>
            </a:endParaRPr>
          </a:p>
        </p:txBody>
      </p:sp>
      <p:sp>
        <p:nvSpPr>
          <p:cNvPr id="15" name="Espace réservé du pied de page 6">
            <a:extLst>
              <a:ext uri="{FF2B5EF4-FFF2-40B4-BE49-F238E27FC236}">
                <a16:creationId xmlns:a16="http://schemas.microsoft.com/office/drawing/2014/main" id="{35522E17-6037-4CB3-8EDB-0332DCAB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3998" y="6492875"/>
            <a:ext cx="2743201" cy="365125"/>
          </a:xfrm>
          <a:noFill/>
        </p:spPr>
        <p:txBody>
          <a:bodyPr/>
          <a:lstStyle/>
          <a:p>
            <a:pPr algn="r"/>
            <a:r>
              <a:rPr lang="fr-FR" sz="1400" dirty="0">
                <a:solidFill>
                  <a:srgbClr val="94A3B8"/>
                </a:solidFill>
              </a:rPr>
              <a:t>Guillaume</a:t>
            </a:r>
            <a:r>
              <a:rPr lang="fr-FR" dirty="0">
                <a:solidFill>
                  <a:srgbClr val="94A3B8"/>
                </a:solidFill>
              </a:rPr>
              <a:t> Cazals</a:t>
            </a:r>
          </a:p>
        </p:txBody>
      </p:sp>
      <p:sp>
        <p:nvSpPr>
          <p:cNvPr id="16" name="Espace réservé du numéro de diapositive 7">
            <a:extLst>
              <a:ext uri="{FF2B5EF4-FFF2-40B4-BE49-F238E27FC236}">
                <a16:creationId xmlns:a16="http://schemas.microsoft.com/office/drawing/2014/main" id="{29CD26B4-320A-46D0-AC9B-D786DCB09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399" y="6477590"/>
            <a:ext cx="2743200" cy="357482"/>
          </a:xfrm>
        </p:spPr>
        <p:txBody>
          <a:bodyPr/>
          <a:lstStyle/>
          <a:p>
            <a:pPr algn="ctr"/>
            <a:r>
              <a:rPr lang="fr-FR" sz="1400" b="1" dirty="0">
                <a:solidFill>
                  <a:srgbClr val="38BDF8"/>
                </a:solidFill>
              </a:rPr>
              <a:t>6 / 19</a:t>
            </a:r>
          </a:p>
        </p:txBody>
      </p:sp>
    </p:spTree>
    <p:extLst>
      <p:ext uri="{BB962C8B-B14F-4D97-AF65-F5344CB8AC3E}">
        <p14:creationId xmlns:p14="http://schemas.microsoft.com/office/powerpoint/2010/main" val="1268382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3000">
              <a:srgbClr val="202E41"/>
            </a:gs>
            <a:gs pos="100000">
              <a:srgbClr val="0C17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6E650F08-31D0-499B-9D3F-D6B20597A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6780" y="2794642"/>
            <a:ext cx="11590418" cy="3682948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Dépendance forte à la disponibilité de la messagerie de l'utilisateur (boîte saturée, spam, filtres…).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Latence possible dans la réception de l'e‑mail, surtout sur certains domaines ou infrastructures.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Expérience utilisateur plus lourde sur mobile (aller/retour entre client mail et navigateur).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Vecteur d'attaque possible sur la boîte mail elle‑même (compromission, redirection d'e‑mails, etc.).</a:t>
            </a:r>
            <a:endParaRPr lang="fr-FR" sz="2200" dirty="0">
              <a:solidFill>
                <a:srgbClr val="CBD5E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DFCA518-F676-4D16-95AA-812FF7990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1048997" cy="1134454"/>
          </a:xfrm>
        </p:spPr>
        <p:txBody>
          <a:bodyPr>
            <a:normAutofit/>
          </a:bodyPr>
          <a:lstStyle/>
          <a:p>
            <a:pPr algn="l"/>
            <a:r>
              <a:rPr lang="fr-FR" sz="3600" b="1" dirty="0">
                <a:solidFill>
                  <a:srgbClr val="38BDF8"/>
                </a:solidFill>
                <a:latin typeface="Arial" panose="020B0604020202020204" pitchFamily="34" charset="0"/>
              </a:rPr>
              <a:t>Limites et irritants de la solution HOTP + e‑mail</a:t>
            </a:r>
            <a:endParaRPr lang="fr-FR" sz="3600" dirty="0"/>
          </a:p>
        </p:txBody>
      </p:sp>
      <p:sp>
        <p:nvSpPr>
          <p:cNvPr id="14" name="Espace réservé de la date 5">
            <a:extLst>
              <a:ext uri="{FF2B5EF4-FFF2-40B4-BE49-F238E27FC236}">
                <a16:creationId xmlns:a16="http://schemas.microsoft.com/office/drawing/2014/main" id="{C441865A-583D-4433-8785-3AEF13C2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4"/>
            <a:ext cx="2743200" cy="365125"/>
          </a:xfrm>
        </p:spPr>
        <p:txBody>
          <a:bodyPr/>
          <a:lstStyle/>
          <a:p>
            <a:fld id="{331479F7-D70E-4412-94F3-A6C320B143F3}" type="datetime1">
              <a:rPr lang="fr-FR" smtClean="0">
                <a:solidFill>
                  <a:srgbClr val="94A3B8"/>
                </a:solidFill>
              </a:rPr>
              <a:t>06/01/2026</a:t>
            </a:fld>
            <a:endParaRPr lang="fr-FR" dirty="0">
              <a:solidFill>
                <a:srgbClr val="94A3B8"/>
              </a:solidFill>
            </a:endParaRPr>
          </a:p>
        </p:txBody>
      </p:sp>
      <p:sp>
        <p:nvSpPr>
          <p:cNvPr id="15" name="Espace réservé du pied de page 6">
            <a:extLst>
              <a:ext uri="{FF2B5EF4-FFF2-40B4-BE49-F238E27FC236}">
                <a16:creationId xmlns:a16="http://schemas.microsoft.com/office/drawing/2014/main" id="{35522E17-6037-4CB3-8EDB-0332DCAB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3998" y="6492875"/>
            <a:ext cx="2743201" cy="365125"/>
          </a:xfrm>
          <a:noFill/>
        </p:spPr>
        <p:txBody>
          <a:bodyPr/>
          <a:lstStyle/>
          <a:p>
            <a:pPr algn="r"/>
            <a:r>
              <a:rPr lang="fr-FR" sz="1400" dirty="0">
                <a:solidFill>
                  <a:srgbClr val="94A3B8"/>
                </a:solidFill>
              </a:rPr>
              <a:t>Guillaume</a:t>
            </a:r>
            <a:r>
              <a:rPr lang="fr-FR" dirty="0">
                <a:solidFill>
                  <a:srgbClr val="94A3B8"/>
                </a:solidFill>
              </a:rPr>
              <a:t> Cazals</a:t>
            </a:r>
          </a:p>
        </p:txBody>
      </p:sp>
      <p:sp>
        <p:nvSpPr>
          <p:cNvPr id="16" name="Espace réservé du numéro de diapositive 7">
            <a:extLst>
              <a:ext uri="{FF2B5EF4-FFF2-40B4-BE49-F238E27FC236}">
                <a16:creationId xmlns:a16="http://schemas.microsoft.com/office/drawing/2014/main" id="{29CD26B4-320A-46D0-AC9B-D786DCB09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399" y="6477590"/>
            <a:ext cx="2743200" cy="357482"/>
          </a:xfrm>
        </p:spPr>
        <p:txBody>
          <a:bodyPr/>
          <a:lstStyle/>
          <a:p>
            <a:pPr algn="ctr"/>
            <a:r>
              <a:rPr lang="fr-FR" sz="1400" b="1" dirty="0">
                <a:solidFill>
                  <a:srgbClr val="38BDF8"/>
                </a:solidFill>
              </a:rPr>
              <a:t>7 / 19</a:t>
            </a:r>
          </a:p>
        </p:txBody>
      </p:sp>
    </p:spTree>
    <p:extLst>
      <p:ext uri="{BB962C8B-B14F-4D97-AF65-F5344CB8AC3E}">
        <p14:creationId xmlns:p14="http://schemas.microsoft.com/office/powerpoint/2010/main" val="594396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3000">
              <a:srgbClr val="202E41"/>
            </a:gs>
            <a:gs pos="100000">
              <a:srgbClr val="0C17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6E650F08-31D0-499B-9D3F-D6B20597A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842" y="2794642"/>
            <a:ext cx="11566357" cy="3698232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Standard de fait du marché (Google Authenticator, Microsoft Authenticator, FreeOTP, etc.).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Codes générés en local sur le smartphone de l'utilisateur — plus de dépendance à l'e‑mail.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Meilleure résilience en cas de latence réseau ou de problèmes de messagerie.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Image plus moderne du produit vis‑à‑vis des clients et des équipes de sécurité.</a:t>
            </a:r>
            <a:endParaRPr lang="fr-FR" sz="2200" dirty="0">
              <a:solidFill>
                <a:srgbClr val="CBD5E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DFCA518-F676-4D16-95AA-812FF7990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122363"/>
            <a:ext cx="10260724" cy="1134454"/>
          </a:xfrm>
        </p:spPr>
        <p:txBody>
          <a:bodyPr>
            <a:normAutofit/>
          </a:bodyPr>
          <a:lstStyle/>
          <a:p>
            <a:pPr algn="l"/>
            <a:r>
              <a:rPr lang="fr-FR" sz="3600" b="1" dirty="0">
                <a:solidFill>
                  <a:srgbClr val="38BDF8"/>
                </a:solidFill>
                <a:latin typeface="Arial" panose="020B0604020202020204" pitchFamily="34" charset="0"/>
              </a:rPr>
              <a:t>Pourquoi viser le TOTP dans Kelio ?</a:t>
            </a:r>
          </a:p>
        </p:txBody>
      </p:sp>
      <p:sp>
        <p:nvSpPr>
          <p:cNvPr id="14" name="Espace réservé de la date 5">
            <a:extLst>
              <a:ext uri="{FF2B5EF4-FFF2-40B4-BE49-F238E27FC236}">
                <a16:creationId xmlns:a16="http://schemas.microsoft.com/office/drawing/2014/main" id="{C441865A-583D-4433-8785-3AEF13C2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4"/>
            <a:ext cx="2743200" cy="365125"/>
          </a:xfrm>
        </p:spPr>
        <p:txBody>
          <a:bodyPr/>
          <a:lstStyle/>
          <a:p>
            <a:fld id="{331479F7-D70E-4412-94F3-A6C320B143F3}" type="datetime1">
              <a:rPr lang="fr-FR" smtClean="0">
                <a:solidFill>
                  <a:srgbClr val="94A3B8"/>
                </a:solidFill>
              </a:rPr>
              <a:t>06/01/2026</a:t>
            </a:fld>
            <a:endParaRPr lang="fr-FR" dirty="0">
              <a:solidFill>
                <a:srgbClr val="94A3B8"/>
              </a:solidFill>
            </a:endParaRPr>
          </a:p>
        </p:txBody>
      </p:sp>
      <p:sp>
        <p:nvSpPr>
          <p:cNvPr id="15" name="Espace réservé du pied de page 6">
            <a:extLst>
              <a:ext uri="{FF2B5EF4-FFF2-40B4-BE49-F238E27FC236}">
                <a16:creationId xmlns:a16="http://schemas.microsoft.com/office/drawing/2014/main" id="{35522E17-6037-4CB3-8EDB-0332DCAB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3998" y="6492875"/>
            <a:ext cx="2743201" cy="365125"/>
          </a:xfrm>
          <a:noFill/>
        </p:spPr>
        <p:txBody>
          <a:bodyPr/>
          <a:lstStyle/>
          <a:p>
            <a:pPr algn="r"/>
            <a:r>
              <a:rPr lang="fr-FR" sz="1400" dirty="0">
                <a:solidFill>
                  <a:srgbClr val="94A3B8"/>
                </a:solidFill>
              </a:rPr>
              <a:t>Guillaume</a:t>
            </a:r>
            <a:r>
              <a:rPr lang="fr-FR" dirty="0">
                <a:solidFill>
                  <a:srgbClr val="94A3B8"/>
                </a:solidFill>
              </a:rPr>
              <a:t> Cazals</a:t>
            </a:r>
          </a:p>
        </p:txBody>
      </p:sp>
      <p:sp>
        <p:nvSpPr>
          <p:cNvPr id="16" name="Espace réservé du numéro de diapositive 7">
            <a:extLst>
              <a:ext uri="{FF2B5EF4-FFF2-40B4-BE49-F238E27FC236}">
                <a16:creationId xmlns:a16="http://schemas.microsoft.com/office/drawing/2014/main" id="{29CD26B4-320A-46D0-AC9B-D786DCB09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399" y="6477590"/>
            <a:ext cx="2743200" cy="357482"/>
          </a:xfrm>
        </p:spPr>
        <p:txBody>
          <a:bodyPr/>
          <a:lstStyle/>
          <a:p>
            <a:pPr algn="ctr"/>
            <a:r>
              <a:rPr lang="fr-FR" sz="1400" b="1" dirty="0">
                <a:solidFill>
                  <a:srgbClr val="38BDF8"/>
                </a:solidFill>
              </a:rPr>
              <a:t>8 / 19</a:t>
            </a:r>
          </a:p>
        </p:txBody>
      </p:sp>
    </p:spTree>
    <p:extLst>
      <p:ext uri="{BB962C8B-B14F-4D97-AF65-F5344CB8AC3E}">
        <p14:creationId xmlns:p14="http://schemas.microsoft.com/office/powerpoint/2010/main" val="2317384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3000">
              <a:srgbClr val="202E41"/>
            </a:gs>
            <a:gs pos="100000">
              <a:srgbClr val="0C17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6E650F08-31D0-499B-9D3F-D6B20597A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863" y="2794642"/>
            <a:ext cx="11558336" cy="3682948"/>
          </a:xfrm>
        </p:spPr>
        <p:txBody>
          <a:bodyPr>
            <a:noAutofit/>
          </a:bodyPr>
          <a:lstStyle/>
          <a:p>
            <a:pPr algn="l"/>
            <a:r>
              <a:rPr lang="fr-FR" sz="2200" dirty="0"/>
              <a:t>La librairie </a:t>
            </a:r>
            <a:r>
              <a:rPr lang="fr-FR" sz="2200" dirty="0" err="1"/>
              <a:t>otp</a:t>
            </a:r>
            <a:r>
              <a:rPr lang="fr-FR" sz="2200" dirty="0"/>
              <a:t>-java reste au cœur du mécanisme : elle supporte déjà HOTP et TOTP.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Réutilisation du même socle technique pour générer des codes TOTP (basés sur l'heure et non plus sur un compteur serveur).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Possibilité de générer des URI de&gt;otpauth:// compatibles avec les applications d'authentification standard.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Alignement continu avec les RFC 4226 (HOTP) et 6238 (TOTP) via les mises à jour de la librairie.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Limitation de l'impact sur le code applicatif Kelio : les briques de génération / vérification restent centralisées.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DFCA518-F676-4D16-95AA-812FF7990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1048997" cy="1134454"/>
          </a:xfrm>
        </p:spPr>
        <p:txBody>
          <a:bodyPr>
            <a:normAutofit/>
          </a:bodyPr>
          <a:lstStyle/>
          <a:p>
            <a:pPr algn="l"/>
            <a:r>
              <a:rPr lang="fr-FR" sz="3600" b="1" dirty="0">
                <a:solidFill>
                  <a:srgbClr val="38BDF8"/>
                </a:solidFill>
                <a:latin typeface="Arial" panose="020B0604020202020204" pitchFamily="34" charset="0"/>
              </a:rPr>
              <a:t>Rôle de la librairie </a:t>
            </a:r>
            <a:r>
              <a:rPr lang="fr-FR" sz="3600" b="1" dirty="0" err="1">
                <a:solidFill>
                  <a:srgbClr val="38BDF8"/>
                </a:solidFill>
                <a:latin typeface="Arial" panose="020B0604020202020204" pitchFamily="34" charset="0"/>
              </a:rPr>
              <a:t>otp</a:t>
            </a:r>
            <a:r>
              <a:rPr lang="fr-FR" sz="3600" b="1" dirty="0">
                <a:solidFill>
                  <a:srgbClr val="38BDF8"/>
                </a:solidFill>
                <a:latin typeface="Arial" panose="020B0604020202020204" pitchFamily="34" charset="0"/>
              </a:rPr>
              <a:t>-java pour la cible TOTP</a:t>
            </a:r>
            <a:endParaRPr lang="fr-FR" sz="3600" dirty="0"/>
          </a:p>
        </p:txBody>
      </p:sp>
      <p:sp>
        <p:nvSpPr>
          <p:cNvPr id="14" name="Espace réservé de la date 5">
            <a:extLst>
              <a:ext uri="{FF2B5EF4-FFF2-40B4-BE49-F238E27FC236}">
                <a16:creationId xmlns:a16="http://schemas.microsoft.com/office/drawing/2014/main" id="{C441865A-583D-4433-8785-3AEF13C2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4"/>
            <a:ext cx="2743200" cy="365125"/>
          </a:xfrm>
        </p:spPr>
        <p:txBody>
          <a:bodyPr/>
          <a:lstStyle/>
          <a:p>
            <a:fld id="{331479F7-D70E-4412-94F3-A6C320B143F3}" type="datetime1">
              <a:rPr lang="fr-FR" smtClean="0">
                <a:solidFill>
                  <a:srgbClr val="94A3B8"/>
                </a:solidFill>
              </a:rPr>
              <a:t>06/01/2026</a:t>
            </a:fld>
            <a:endParaRPr lang="fr-FR" dirty="0">
              <a:solidFill>
                <a:srgbClr val="94A3B8"/>
              </a:solidFill>
            </a:endParaRPr>
          </a:p>
        </p:txBody>
      </p:sp>
      <p:sp>
        <p:nvSpPr>
          <p:cNvPr id="15" name="Espace réservé du pied de page 6">
            <a:extLst>
              <a:ext uri="{FF2B5EF4-FFF2-40B4-BE49-F238E27FC236}">
                <a16:creationId xmlns:a16="http://schemas.microsoft.com/office/drawing/2014/main" id="{35522E17-6037-4CB3-8EDB-0332DCAB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3998" y="6492875"/>
            <a:ext cx="2743201" cy="365125"/>
          </a:xfrm>
          <a:noFill/>
        </p:spPr>
        <p:txBody>
          <a:bodyPr/>
          <a:lstStyle/>
          <a:p>
            <a:pPr algn="r"/>
            <a:r>
              <a:rPr lang="fr-FR" sz="1400" dirty="0">
                <a:solidFill>
                  <a:srgbClr val="94A3B8"/>
                </a:solidFill>
              </a:rPr>
              <a:t>Guillaume</a:t>
            </a:r>
            <a:r>
              <a:rPr lang="fr-FR" dirty="0">
                <a:solidFill>
                  <a:srgbClr val="94A3B8"/>
                </a:solidFill>
              </a:rPr>
              <a:t> Cazals</a:t>
            </a:r>
          </a:p>
        </p:txBody>
      </p:sp>
      <p:sp>
        <p:nvSpPr>
          <p:cNvPr id="16" name="Espace réservé du numéro de diapositive 7">
            <a:extLst>
              <a:ext uri="{FF2B5EF4-FFF2-40B4-BE49-F238E27FC236}">
                <a16:creationId xmlns:a16="http://schemas.microsoft.com/office/drawing/2014/main" id="{29CD26B4-320A-46D0-AC9B-D786DCB09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399" y="6477590"/>
            <a:ext cx="2743200" cy="357482"/>
          </a:xfrm>
        </p:spPr>
        <p:txBody>
          <a:bodyPr/>
          <a:lstStyle/>
          <a:p>
            <a:pPr algn="ctr"/>
            <a:r>
              <a:rPr lang="fr-FR" sz="1400" b="1" dirty="0">
                <a:solidFill>
                  <a:srgbClr val="38BDF8"/>
                </a:solidFill>
              </a:rPr>
              <a:t>9 / 19</a:t>
            </a:r>
          </a:p>
        </p:txBody>
      </p:sp>
    </p:spTree>
    <p:extLst>
      <p:ext uri="{BB962C8B-B14F-4D97-AF65-F5344CB8AC3E}">
        <p14:creationId xmlns:p14="http://schemas.microsoft.com/office/powerpoint/2010/main" val="3467089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3000">
              <a:srgbClr val="202E41"/>
            </a:gs>
            <a:gs pos="100000">
              <a:srgbClr val="0C17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6E650F08-31D0-499B-9D3F-D6B20597A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737" y="2794642"/>
            <a:ext cx="11606462" cy="1806542"/>
          </a:xfrm>
        </p:spPr>
        <p:txBody>
          <a:bodyPr>
            <a:noAutofit/>
          </a:bodyPr>
          <a:lstStyle/>
          <a:p>
            <a:pPr algn="l"/>
            <a:r>
              <a:rPr lang="fr-FR" sz="2200" dirty="0"/>
              <a:t>Kelio dispose déjà d'un MFA basé sur HOTP et sur la librairie </a:t>
            </a:r>
            <a:r>
              <a:rPr lang="fr-FR" sz="2200" dirty="0" err="1"/>
              <a:t>otp</a:t>
            </a:r>
            <a:r>
              <a:rPr lang="fr-FR" sz="2200" dirty="0"/>
              <a:t>-java.</a:t>
            </a:r>
          </a:p>
          <a:p>
            <a:pPr algn="l"/>
            <a:endParaRPr lang="fr-FR" sz="2200" dirty="0"/>
          </a:p>
          <a:p>
            <a:pPr algn="l"/>
            <a:r>
              <a:rPr lang="fr-FR" sz="2200" dirty="0"/>
              <a:t>Nous allons maintenant détailler la cible TOTP : parcours utilisateur, flux techniques, stockage des secrets et intégration avec les applications d'authentification.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DFCA518-F676-4D16-95AA-812FF7990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1048997" cy="1134454"/>
          </a:xfrm>
        </p:spPr>
        <p:txBody>
          <a:bodyPr>
            <a:normAutofit/>
          </a:bodyPr>
          <a:lstStyle/>
          <a:p>
            <a:r>
              <a:rPr lang="fr-FR" sz="3600" b="1" dirty="0">
                <a:solidFill>
                  <a:srgbClr val="38BDF8"/>
                </a:solidFill>
                <a:latin typeface="Arial" panose="020B0604020202020204" pitchFamily="34" charset="0"/>
              </a:rPr>
              <a:t>Synthèse &amp; suite</a:t>
            </a:r>
            <a:endParaRPr lang="fr-FR" sz="3600" dirty="0"/>
          </a:p>
        </p:txBody>
      </p:sp>
      <p:sp>
        <p:nvSpPr>
          <p:cNvPr id="14" name="Espace réservé de la date 5">
            <a:extLst>
              <a:ext uri="{FF2B5EF4-FFF2-40B4-BE49-F238E27FC236}">
                <a16:creationId xmlns:a16="http://schemas.microsoft.com/office/drawing/2014/main" id="{C441865A-583D-4433-8785-3AEF13C2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4"/>
            <a:ext cx="2743200" cy="365125"/>
          </a:xfrm>
        </p:spPr>
        <p:txBody>
          <a:bodyPr/>
          <a:lstStyle/>
          <a:p>
            <a:fld id="{331479F7-D70E-4412-94F3-A6C320B143F3}" type="datetime1">
              <a:rPr lang="fr-FR" smtClean="0">
                <a:solidFill>
                  <a:srgbClr val="94A3B8"/>
                </a:solidFill>
              </a:rPr>
              <a:t>06/01/2026</a:t>
            </a:fld>
            <a:endParaRPr lang="fr-FR" dirty="0">
              <a:solidFill>
                <a:srgbClr val="94A3B8"/>
              </a:solidFill>
            </a:endParaRPr>
          </a:p>
        </p:txBody>
      </p:sp>
      <p:sp>
        <p:nvSpPr>
          <p:cNvPr id="15" name="Espace réservé du pied de page 6">
            <a:extLst>
              <a:ext uri="{FF2B5EF4-FFF2-40B4-BE49-F238E27FC236}">
                <a16:creationId xmlns:a16="http://schemas.microsoft.com/office/drawing/2014/main" id="{35522E17-6037-4CB3-8EDB-0332DCAB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3998" y="6492875"/>
            <a:ext cx="2743201" cy="365125"/>
          </a:xfrm>
          <a:noFill/>
        </p:spPr>
        <p:txBody>
          <a:bodyPr/>
          <a:lstStyle/>
          <a:p>
            <a:pPr algn="r"/>
            <a:r>
              <a:rPr lang="fr-FR" sz="1400" dirty="0">
                <a:solidFill>
                  <a:srgbClr val="94A3B8"/>
                </a:solidFill>
              </a:rPr>
              <a:t>Guillaume</a:t>
            </a:r>
            <a:r>
              <a:rPr lang="fr-FR" dirty="0">
                <a:solidFill>
                  <a:srgbClr val="94A3B8"/>
                </a:solidFill>
              </a:rPr>
              <a:t> Cazals</a:t>
            </a:r>
          </a:p>
        </p:txBody>
      </p:sp>
      <p:sp>
        <p:nvSpPr>
          <p:cNvPr id="16" name="Espace réservé du numéro de diapositive 7">
            <a:extLst>
              <a:ext uri="{FF2B5EF4-FFF2-40B4-BE49-F238E27FC236}">
                <a16:creationId xmlns:a16="http://schemas.microsoft.com/office/drawing/2014/main" id="{29CD26B4-320A-46D0-AC9B-D786DCB09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399" y="6477590"/>
            <a:ext cx="2743200" cy="357482"/>
          </a:xfrm>
        </p:spPr>
        <p:txBody>
          <a:bodyPr/>
          <a:lstStyle/>
          <a:p>
            <a:pPr algn="ctr"/>
            <a:r>
              <a:rPr lang="fr-FR" sz="1400" b="1" dirty="0">
                <a:solidFill>
                  <a:srgbClr val="38BDF8"/>
                </a:solidFill>
              </a:rPr>
              <a:t>10 / 19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E58467-B241-432B-9A2A-4285496E171A}"/>
              </a:ext>
            </a:extLst>
          </p:cNvPr>
          <p:cNvSpPr/>
          <p:nvPr/>
        </p:nvSpPr>
        <p:spPr>
          <a:xfrm>
            <a:off x="4489693" y="4735853"/>
            <a:ext cx="32126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solidFill>
                  <a:srgbClr val="94A3B8"/>
                </a:solidFill>
                <a:latin typeface="Arial" panose="020B0604020202020204" pitchFamily="34" charset="0"/>
              </a:rPr>
              <a:t>(Partie 2 : Conception détaillée TOTP)</a:t>
            </a:r>
            <a:endParaRPr lang="fr-FR" sz="1400" dirty="0">
              <a:solidFill>
                <a:srgbClr val="94A3B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8284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3000">
              <a:srgbClr val="202E41"/>
            </a:gs>
            <a:gs pos="100000">
              <a:srgbClr val="0C17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6E650F08-31D0-499B-9D3F-D6B20597A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632" y="2794642"/>
            <a:ext cx="11646567" cy="3682948"/>
          </a:xfrm>
        </p:spPr>
        <p:txBody>
          <a:bodyPr>
            <a:noAutofit/>
          </a:bodyPr>
          <a:lstStyle/>
          <a:p>
            <a:pPr algn="l"/>
            <a:r>
              <a:rPr lang="fr-FR" sz="2200" dirty="0">
                <a:hlinkClick r:id="rId2"/>
              </a:rPr>
              <a:t>Le parcours TOTP </a:t>
            </a:r>
            <a:r>
              <a:rPr lang="fr-FR" sz="2200" dirty="0"/>
              <a:t>suit les mêmes étapes clés que le MFA actuel : </a:t>
            </a:r>
          </a:p>
          <a:p>
            <a:pPr algn="l"/>
            <a:r>
              <a:rPr lang="fr-FR" sz="2200" dirty="0"/>
              <a:t>Authentification(1FA) </a:t>
            </a:r>
            <a:r>
              <a:rPr lang="fr-FR" sz="2200" dirty="0">
                <a:solidFill>
                  <a:srgbClr val="38BDF8"/>
                </a:solidFill>
                <a:sym typeface="Wingdings" panose="05000000000000000000" pitchFamily="2" charset="2"/>
              </a:rPr>
              <a:t></a:t>
            </a:r>
            <a:r>
              <a:rPr lang="fr-FR" sz="2200" dirty="0"/>
              <a:t> vérification du statut MFA </a:t>
            </a:r>
            <a:r>
              <a:rPr lang="fr-FR" sz="2200" dirty="0">
                <a:solidFill>
                  <a:srgbClr val="38BDF8"/>
                </a:solidFill>
                <a:sym typeface="Wingdings" panose="05000000000000000000" pitchFamily="2" charset="2"/>
              </a:rPr>
              <a:t></a:t>
            </a:r>
            <a:r>
              <a:rPr lang="fr-FR" sz="2200" dirty="0">
                <a:sym typeface="Wingdings" panose="05000000000000000000" pitchFamily="2" charset="2"/>
              </a:rPr>
              <a:t> </a:t>
            </a:r>
            <a:r>
              <a:rPr lang="fr-FR" sz="2200" dirty="0"/>
              <a:t>contrôle d'un code à usage unique(2FA)</a:t>
            </a:r>
          </a:p>
          <a:p>
            <a:pPr algn="l"/>
            <a:endParaRPr lang="fr-FR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Enregistrement initial lorsque le TOTP n'est pas encore activé (génération du secret et du QR code).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Connexions suivantes avec la saisie d'un code TOTP généré par l'application d'authentification.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Gestion des erreurs, des tentatives multiples et du verrouillage du compte en cas d'échecs répétés.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DFCA518-F676-4D16-95AA-812FF7990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1048997" cy="1134454"/>
          </a:xfrm>
        </p:spPr>
        <p:txBody>
          <a:bodyPr>
            <a:normAutofit/>
          </a:bodyPr>
          <a:lstStyle/>
          <a:p>
            <a:pPr algn="l"/>
            <a:r>
              <a:rPr lang="fr-FR" sz="3600" b="1" dirty="0">
                <a:solidFill>
                  <a:srgbClr val="38BDF8"/>
                </a:solidFill>
                <a:latin typeface="Arial" panose="020B0604020202020204" pitchFamily="34" charset="0"/>
              </a:rPr>
              <a:t>Parcours utilisateur avec MFA : TOTP</a:t>
            </a:r>
            <a:endParaRPr lang="fr-FR" sz="3600" dirty="0"/>
          </a:p>
        </p:txBody>
      </p:sp>
      <p:sp>
        <p:nvSpPr>
          <p:cNvPr id="14" name="Espace réservé de la date 5">
            <a:extLst>
              <a:ext uri="{FF2B5EF4-FFF2-40B4-BE49-F238E27FC236}">
                <a16:creationId xmlns:a16="http://schemas.microsoft.com/office/drawing/2014/main" id="{C441865A-583D-4433-8785-3AEF13C2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4"/>
            <a:ext cx="2743200" cy="365125"/>
          </a:xfrm>
        </p:spPr>
        <p:txBody>
          <a:bodyPr/>
          <a:lstStyle/>
          <a:p>
            <a:fld id="{331479F7-D70E-4412-94F3-A6C320B143F3}" type="datetime1">
              <a:rPr lang="fr-FR" smtClean="0">
                <a:solidFill>
                  <a:srgbClr val="94A3B8"/>
                </a:solidFill>
              </a:rPr>
              <a:t>06/01/2026</a:t>
            </a:fld>
            <a:endParaRPr lang="fr-FR" dirty="0">
              <a:solidFill>
                <a:srgbClr val="94A3B8"/>
              </a:solidFill>
            </a:endParaRPr>
          </a:p>
        </p:txBody>
      </p:sp>
      <p:sp>
        <p:nvSpPr>
          <p:cNvPr id="15" name="Espace réservé du pied de page 6">
            <a:extLst>
              <a:ext uri="{FF2B5EF4-FFF2-40B4-BE49-F238E27FC236}">
                <a16:creationId xmlns:a16="http://schemas.microsoft.com/office/drawing/2014/main" id="{35522E17-6037-4CB3-8EDB-0332DCAB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3998" y="6492875"/>
            <a:ext cx="2743201" cy="365125"/>
          </a:xfrm>
          <a:noFill/>
        </p:spPr>
        <p:txBody>
          <a:bodyPr/>
          <a:lstStyle/>
          <a:p>
            <a:pPr algn="r"/>
            <a:r>
              <a:rPr lang="fr-FR" sz="1400" dirty="0">
                <a:solidFill>
                  <a:srgbClr val="94A3B8"/>
                </a:solidFill>
              </a:rPr>
              <a:t>Guillaume</a:t>
            </a:r>
            <a:r>
              <a:rPr lang="fr-FR" dirty="0">
                <a:solidFill>
                  <a:srgbClr val="94A3B8"/>
                </a:solidFill>
              </a:rPr>
              <a:t> Cazals</a:t>
            </a:r>
          </a:p>
        </p:txBody>
      </p:sp>
      <p:sp>
        <p:nvSpPr>
          <p:cNvPr id="16" name="Espace réservé du numéro de diapositive 7">
            <a:extLst>
              <a:ext uri="{FF2B5EF4-FFF2-40B4-BE49-F238E27FC236}">
                <a16:creationId xmlns:a16="http://schemas.microsoft.com/office/drawing/2014/main" id="{29CD26B4-320A-46D0-AC9B-D786DCB09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399" y="6477590"/>
            <a:ext cx="2743200" cy="357482"/>
          </a:xfrm>
        </p:spPr>
        <p:txBody>
          <a:bodyPr/>
          <a:lstStyle/>
          <a:p>
            <a:pPr algn="ctr"/>
            <a:r>
              <a:rPr lang="fr-FR" sz="1400" b="1" dirty="0">
                <a:solidFill>
                  <a:srgbClr val="38BDF8"/>
                </a:solidFill>
              </a:rPr>
              <a:t>11 / 19</a:t>
            </a:r>
          </a:p>
        </p:txBody>
      </p:sp>
    </p:spTree>
    <p:extLst>
      <p:ext uri="{BB962C8B-B14F-4D97-AF65-F5344CB8AC3E}">
        <p14:creationId xmlns:p14="http://schemas.microsoft.com/office/powerpoint/2010/main" val="340091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3000">
              <a:srgbClr val="202E41"/>
            </a:gs>
            <a:gs pos="100000">
              <a:srgbClr val="0C17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6E650F08-31D0-499B-9D3F-D6B20597A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632" y="2794642"/>
            <a:ext cx="11646567" cy="3682948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L'utilisateur se connecte avec son login / mot de passe et n'a pas encore enregistré de token TOTP sur son compte.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MFA TOTP activé, Kelio déclenche la génération d'un secret partagé.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Ce secret est stocké de manière sécurisée côté serveur et ne sera plus jamais affiché en clair.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L'utilisateur est invité à scanner un QR code ou saisir le secret selon  son application d'authentification.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DFCA518-F676-4D16-95AA-812FF7990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1048997" cy="1134454"/>
          </a:xfrm>
        </p:spPr>
        <p:txBody>
          <a:bodyPr>
            <a:normAutofit/>
          </a:bodyPr>
          <a:lstStyle/>
          <a:p>
            <a:pPr algn="l"/>
            <a:r>
              <a:rPr lang="fr-FR" sz="3600" b="1" dirty="0">
                <a:solidFill>
                  <a:srgbClr val="38BDF8"/>
                </a:solidFill>
                <a:latin typeface="Arial" panose="020B0604020202020204" pitchFamily="34" charset="0"/>
              </a:rPr>
              <a:t>Enregistrement initial TOTP : principe</a:t>
            </a:r>
            <a:endParaRPr lang="fr-FR" sz="3600" dirty="0"/>
          </a:p>
        </p:txBody>
      </p:sp>
      <p:sp>
        <p:nvSpPr>
          <p:cNvPr id="14" name="Espace réservé de la date 5">
            <a:extLst>
              <a:ext uri="{FF2B5EF4-FFF2-40B4-BE49-F238E27FC236}">
                <a16:creationId xmlns:a16="http://schemas.microsoft.com/office/drawing/2014/main" id="{C441865A-583D-4433-8785-3AEF13C2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4"/>
            <a:ext cx="2743200" cy="365125"/>
          </a:xfrm>
        </p:spPr>
        <p:txBody>
          <a:bodyPr/>
          <a:lstStyle/>
          <a:p>
            <a:fld id="{331479F7-D70E-4412-94F3-A6C320B143F3}" type="datetime1">
              <a:rPr lang="fr-FR" smtClean="0">
                <a:solidFill>
                  <a:srgbClr val="94A3B8"/>
                </a:solidFill>
              </a:rPr>
              <a:t>06/01/2026</a:t>
            </a:fld>
            <a:endParaRPr lang="fr-FR" dirty="0">
              <a:solidFill>
                <a:srgbClr val="94A3B8"/>
              </a:solidFill>
            </a:endParaRPr>
          </a:p>
        </p:txBody>
      </p:sp>
      <p:sp>
        <p:nvSpPr>
          <p:cNvPr id="15" name="Espace réservé du pied de page 6">
            <a:extLst>
              <a:ext uri="{FF2B5EF4-FFF2-40B4-BE49-F238E27FC236}">
                <a16:creationId xmlns:a16="http://schemas.microsoft.com/office/drawing/2014/main" id="{35522E17-6037-4CB3-8EDB-0332DCAB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3998" y="6492875"/>
            <a:ext cx="2743201" cy="365125"/>
          </a:xfrm>
          <a:noFill/>
        </p:spPr>
        <p:txBody>
          <a:bodyPr/>
          <a:lstStyle/>
          <a:p>
            <a:pPr algn="r"/>
            <a:r>
              <a:rPr lang="fr-FR" sz="1400" dirty="0">
                <a:solidFill>
                  <a:srgbClr val="94A3B8"/>
                </a:solidFill>
              </a:rPr>
              <a:t>Guillaume</a:t>
            </a:r>
            <a:r>
              <a:rPr lang="fr-FR" dirty="0">
                <a:solidFill>
                  <a:srgbClr val="94A3B8"/>
                </a:solidFill>
              </a:rPr>
              <a:t> Cazals</a:t>
            </a:r>
          </a:p>
        </p:txBody>
      </p:sp>
      <p:sp>
        <p:nvSpPr>
          <p:cNvPr id="16" name="Espace réservé du numéro de diapositive 7">
            <a:extLst>
              <a:ext uri="{FF2B5EF4-FFF2-40B4-BE49-F238E27FC236}">
                <a16:creationId xmlns:a16="http://schemas.microsoft.com/office/drawing/2014/main" id="{29CD26B4-320A-46D0-AC9B-D786DCB09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399" y="6477590"/>
            <a:ext cx="2743200" cy="357482"/>
          </a:xfrm>
        </p:spPr>
        <p:txBody>
          <a:bodyPr/>
          <a:lstStyle/>
          <a:p>
            <a:pPr algn="ctr"/>
            <a:r>
              <a:rPr lang="fr-FR" sz="1400" b="1" dirty="0">
                <a:solidFill>
                  <a:srgbClr val="38BDF8"/>
                </a:solidFill>
              </a:rPr>
              <a:t>12 / 19</a:t>
            </a:r>
          </a:p>
        </p:txBody>
      </p:sp>
    </p:spTree>
    <p:extLst>
      <p:ext uri="{BB962C8B-B14F-4D97-AF65-F5344CB8AC3E}">
        <p14:creationId xmlns:p14="http://schemas.microsoft.com/office/powerpoint/2010/main" val="2352006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3000">
              <a:srgbClr val="202E41"/>
            </a:gs>
            <a:gs pos="100000">
              <a:srgbClr val="0C17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6E650F08-31D0-499B-9D3F-D6B20597A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611" y="2794642"/>
            <a:ext cx="11654588" cy="3682948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Utilisation de </a:t>
            </a:r>
            <a:r>
              <a:rPr lang="fr-FR" sz="2200" dirty="0" err="1"/>
              <a:t>otp</a:t>
            </a:r>
            <a:r>
              <a:rPr lang="fr-FR" sz="2200" dirty="0"/>
              <a:t>-java pour générer un secret TOTP conforme aux RFC </a:t>
            </a:r>
            <a:r>
              <a:rPr lang="fr-FR" sz="2200" dirty="0">
                <a:hlinkClick r:id="rId2" action="ppaction://hlinkfile"/>
              </a:rPr>
              <a:t>4226</a:t>
            </a:r>
            <a:r>
              <a:rPr lang="fr-FR" sz="2200" dirty="0"/>
              <a:t> / </a:t>
            </a:r>
            <a:r>
              <a:rPr lang="fr-FR" sz="2200" dirty="0">
                <a:hlinkClick r:id="rId3"/>
              </a:rPr>
              <a:t>6238</a:t>
            </a:r>
            <a:r>
              <a:rPr lang="fr-FR" sz="2200" dirty="0"/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Construction d'une URI de&gt;otpauth://totp/ contenant le compte, l'émetteur, le secret, l'algorithme, la longueur du code et la période (ex. 30 s).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Encodage de cette URI en QR code et affichage dans l'interface Kelio.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L'utilisateur scanne le QR code avec son application (Google Authenticator, Microsoft Authenticator, etc.) ou saisi le code manuellement.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DFCA518-F676-4D16-95AA-812FF7990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1048997" cy="1134454"/>
          </a:xfrm>
        </p:spPr>
        <p:txBody>
          <a:bodyPr>
            <a:normAutofit/>
          </a:bodyPr>
          <a:lstStyle/>
          <a:p>
            <a:pPr algn="l"/>
            <a:r>
              <a:rPr lang="fr-FR" sz="3600" b="1" dirty="0">
                <a:solidFill>
                  <a:srgbClr val="38BDF8"/>
                </a:solidFill>
                <a:latin typeface="Arial" panose="020B0604020202020204" pitchFamily="34" charset="0"/>
              </a:rPr>
              <a:t>Génération du secret &amp; QR code</a:t>
            </a:r>
          </a:p>
        </p:txBody>
      </p:sp>
      <p:sp>
        <p:nvSpPr>
          <p:cNvPr id="14" name="Espace réservé de la date 5">
            <a:extLst>
              <a:ext uri="{FF2B5EF4-FFF2-40B4-BE49-F238E27FC236}">
                <a16:creationId xmlns:a16="http://schemas.microsoft.com/office/drawing/2014/main" id="{C441865A-583D-4433-8785-3AEF13C2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4"/>
            <a:ext cx="2743200" cy="365125"/>
          </a:xfrm>
        </p:spPr>
        <p:txBody>
          <a:bodyPr/>
          <a:lstStyle/>
          <a:p>
            <a:fld id="{331479F7-D70E-4412-94F3-A6C320B143F3}" type="datetime1">
              <a:rPr lang="fr-FR" smtClean="0">
                <a:solidFill>
                  <a:srgbClr val="94A3B8"/>
                </a:solidFill>
              </a:rPr>
              <a:t>06/01/2026</a:t>
            </a:fld>
            <a:endParaRPr lang="fr-FR" dirty="0">
              <a:solidFill>
                <a:srgbClr val="94A3B8"/>
              </a:solidFill>
            </a:endParaRPr>
          </a:p>
        </p:txBody>
      </p:sp>
      <p:sp>
        <p:nvSpPr>
          <p:cNvPr id="15" name="Espace réservé du pied de page 6">
            <a:extLst>
              <a:ext uri="{FF2B5EF4-FFF2-40B4-BE49-F238E27FC236}">
                <a16:creationId xmlns:a16="http://schemas.microsoft.com/office/drawing/2014/main" id="{35522E17-6037-4CB3-8EDB-0332DCAB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3998" y="6492875"/>
            <a:ext cx="2743201" cy="365125"/>
          </a:xfrm>
          <a:noFill/>
        </p:spPr>
        <p:txBody>
          <a:bodyPr/>
          <a:lstStyle/>
          <a:p>
            <a:pPr algn="r"/>
            <a:r>
              <a:rPr lang="fr-FR" sz="1400" dirty="0">
                <a:solidFill>
                  <a:srgbClr val="94A3B8"/>
                </a:solidFill>
              </a:rPr>
              <a:t>Guillaume</a:t>
            </a:r>
            <a:r>
              <a:rPr lang="fr-FR" dirty="0">
                <a:solidFill>
                  <a:srgbClr val="94A3B8"/>
                </a:solidFill>
              </a:rPr>
              <a:t> Cazals</a:t>
            </a:r>
          </a:p>
        </p:txBody>
      </p:sp>
      <p:sp>
        <p:nvSpPr>
          <p:cNvPr id="16" name="Espace réservé du numéro de diapositive 7">
            <a:extLst>
              <a:ext uri="{FF2B5EF4-FFF2-40B4-BE49-F238E27FC236}">
                <a16:creationId xmlns:a16="http://schemas.microsoft.com/office/drawing/2014/main" id="{29CD26B4-320A-46D0-AC9B-D786DCB09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399" y="6477590"/>
            <a:ext cx="2743200" cy="357482"/>
          </a:xfrm>
        </p:spPr>
        <p:txBody>
          <a:bodyPr/>
          <a:lstStyle/>
          <a:p>
            <a:pPr algn="ctr"/>
            <a:r>
              <a:rPr lang="fr-FR" sz="1400" b="1" dirty="0">
                <a:solidFill>
                  <a:srgbClr val="38BDF8"/>
                </a:solidFill>
              </a:rPr>
              <a:t>13 / 19</a:t>
            </a:r>
          </a:p>
        </p:txBody>
      </p:sp>
    </p:spTree>
    <p:extLst>
      <p:ext uri="{BB962C8B-B14F-4D97-AF65-F5344CB8AC3E}">
        <p14:creationId xmlns:p14="http://schemas.microsoft.com/office/powerpoint/2010/main" val="198154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3000">
              <a:srgbClr val="202E41"/>
            </a:gs>
            <a:gs pos="100000">
              <a:srgbClr val="0C17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6E650F08-31D0-499B-9D3F-D6B20597A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674" y="2794642"/>
            <a:ext cx="11630525" cy="3682948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Après le scan, le serveur demande la saisie d’un code généré par l’application à l’utilisateur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Kelio vérifie le code en se basant sur l'heure et le secret stocké côté serveur (fenêtre temporelle configurable).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Si la vérification réussit, le TOTP est comme activé pour le compte utilisateur.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En cas d'échec, un message d'erreur est affiché (vérifier heure du device qui fournit le code(PC, téléphone), relancer procédure avec nouveau secret, etc.).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DFCA518-F676-4D16-95AA-812FF7990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1048997" cy="1134454"/>
          </a:xfrm>
        </p:spPr>
        <p:txBody>
          <a:bodyPr>
            <a:normAutofit/>
          </a:bodyPr>
          <a:lstStyle/>
          <a:p>
            <a:pPr algn="l"/>
            <a:r>
              <a:rPr lang="fr-FR" sz="3600" b="1" dirty="0">
                <a:solidFill>
                  <a:srgbClr val="38BDF8"/>
                </a:solidFill>
                <a:latin typeface="Arial" panose="020B0604020202020204" pitchFamily="34" charset="0"/>
              </a:rPr>
              <a:t>Vérification de l'appareil lors de l'activation</a:t>
            </a:r>
          </a:p>
        </p:txBody>
      </p:sp>
      <p:sp>
        <p:nvSpPr>
          <p:cNvPr id="14" name="Espace réservé de la date 5">
            <a:extLst>
              <a:ext uri="{FF2B5EF4-FFF2-40B4-BE49-F238E27FC236}">
                <a16:creationId xmlns:a16="http://schemas.microsoft.com/office/drawing/2014/main" id="{C441865A-583D-4433-8785-3AEF13C2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4"/>
            <a:ext cx="2743200" cy="365125"/>
          </a:xfrm>
        </p:spPr>
        <p:txBody>
          <a:bodyPr/>
          <a:lstStyle/>
          <a:p>
            <a:fld id="{331479F7-D70E-4412-94F3-A6C320B143F3}" type="datetime1">
              <a:rPr lang="fr-FR" smtClean="0">
                <a:solidFill>
                  <a:srgbClr val="94A3B8"/>
                </a:solidFill>
              </a:rPr>
              <a:t>06/01/2026</a:t>
            </a:fld>
            <a:endParaRPr lang="fr-FR" dirty="0">
              <a:solidFill>
                <a:srgbClr val="94A3B8"/>
              </a:solidFill>
            </a:endParaRPr>
          </a:p>
        </p:txBody>
      </p:sp>
      <p:sp>
        <p:nvSpPr>
          <p:cNvPr id="15" name="Espace réservé du pied de page 6">
            <a:extLst>
              <a:ext uri="{FF2B5EF4-FFF2-40B4-BE49-F238E27FC236}">
                <a16:creationId xmlns:a16="http://schemas.microsoft.com/office/drawing/2014/main" id="{35522E17-6037-4CB3-8EDB-0332DCAB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3998" y="6492875"/>
            <a:ext cx="2743201" cy="365125"/>
          </a:xfrm>
          <a:noFill/>
        </p:spPr>
        <p:txBody>
          <a:bodyPr/>
          <a:lstStyle/>
          <a:p>
            <a:pPr algn="r"/>
            <a:r>
              <a:rPr lang="fr-FR" sz="1400" dirty="0">
                <a:solidFill>
                  <a:srgbClr val="94A3B8"/>
                </a:solidFill>
              </a:rPr>
              <a:t>Guillaume</a:t>
            </a:r>
            <a:r>
              <a:rPr lang="fr-FR" dirty="0">
                <a:solidFill>
                  <a:srgbClr val="94A3B8"/>
                </a:solidFill>
              </a:rPr>
              <a:t> Cazals</a:t>
            </a:r>
          </a:p>
        </p:txBody>
      </p:sp>
      <p:sp>
        <p:nvSpPr>
          <p:cNvPr id="16" name="Espace réservé du numéro de diapositive 7">
            <a:extLst>
              <a:ext uri="{FF2B5EF4-FFF2-40B4-BE49-F238E27FC236}">
                <a16:creationId xmlns:a16="http://schemas.microsoft.com/office/drawing/2014/main" id="{29CD26B4-320A-46D0-AC9B-D786DCB09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399" y="6477590"/>
            <a:ext cx="2743200" cy="357482"/>
          </a:xfrm>
        </p:spPr>
        <p:txBody>
          <a:bodyPr/>
          <a:lstStyle/>
          <a:p>
            <a:pPr algn="ctr"/>
            <a:r>
              <a:rPr lang="fr-FR" sz="1400" b="1" dirty="0">
                <a:solidFill>
                  <a:srgbClr val="38BDF8"/>
                </a:solidFill>
              </a:rPr>
              <a:t>14 / 19</a:t>
            </a:r>
          </a:p>
        </p:txBody>
      </p:sp>
    </p:spTree>
    <p:extLst>
      <p:ext uri="{BB962C8B-B14F-4D97-AF65-F5344CB8AC3E}">
        <p14:creationId xmlns:p14="http://schemas.microsoft.com/office/powerpoint/2010/main" val="286244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3000">
              <a:srgbClr val="202E41"/>
            </a:gs>
            <a:gs pos="100000">
              <a:srgbClr val="0C17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6E650F08-31D0-499B-9D3F-D6B20597A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654" y="2794642"/>
            <a:ext cx="11638546" cy="3682948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L'utilisateur saisit son identifiant et son mot de passe.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Si le TOTP est activé, Kelio affiche un écran de saisie du code à 6 chiffres.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L’utilisateur saisit le code valide dans la période de 30s de son application d ’</a:t>
            </a:r>
            <a:r>
              <a:rPr lang="fr-FR" sz="2200" dirty="0" err="1"/>
              <a:t>authentfication</a:t>
            </a:r>
            <a:endParaRPr lang="fr-FR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Le serveur vérifie le code TOTP sur la base du temps courant et d'une fenêtre d'acceptation (par exemple +- 1 période de temps).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En cas de plusieurs échecs consécutifs, les mêmes mécanismes de verrouillage de compte que pour HOTP sont appliqués.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DFCA518-F676-4D16-95AA-812FF7990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1048997" cy="1134454"/>
          </a:xfrm>
        </p:spPr>
        <p:txBody>
          <a:bodyPr>
            <a:normAutofit/>
          </a:bodyPr>
          <a:lstStyle/>
          <a:p>
            <a:pPr algn="l"/>
            <a:r>
              <a:rPr lang="fr-FR" sz="3600" b="1" dirty="0">
                <a:solidFill>
                  <a:srgbClr val="38BDF8"/>
                </a:solidFill>
                <a:latin typeface="Arial" panose="020B0604020202020204" pitchFamily="34" charset="0"/>
              </a:rPr>
              <a:t>Connexion avec TOTP activé</a:t>
            </a:r>
          </a:p>
        </p:txBody>
      </p:sp>
      <p:sp>
        <p:nvSpPr>
          <p:cNvPr id="14" name="Espace réservé de la date 5">
            <a:extLst>
              <a:ext uri="{FF2B5EF4-FFF2-40B4-BE49-F238E27FC236}">
                <a16:creationId xmlns:a16="http://schemas.microsoft.com/office/drawing/2014/main" id="{C441865A-583D-4433-8785-3AEF13C2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4"/>
            <a:ext cx="2743200" cy="365125"/>
          </a:xfrm>
        </p:spPr>
        <p:txBody>
          <a:bodyPr/>
          <a:lstStyle/>
          <a:p>
            <a:fld id="{331479F7-D70E-4412-94F3-A6C320B143F3}" type="datetime1">
              <a:rPr lang="fr-FR" smtClean="0">
                <a:solidFill>
                  <a:srgbClr val="94A3B8"/>
                </a:solidFill>
              </a:rPr>
              <a:t>06/01/2026</a:t>
            </a:fld>
            <a:endParaRPr lang="fr-FR" dirty="0">
              <a:solidFill>
                <a:srgbClr val="94A3B8"/>
              </a:solidFill>
            </a:endParaRPr>
          </a:p>
        </p:txBody>
      </p:sp>
      <p:sp>
        <p:nvSpPr>
          <p:cNvPr id="15" name="Espace réservé du pied de page 6">
            <a:extLst>
              <a:ext uri="{FF2B5EF4-FFF2-40B4-BE49-F238E27FC236}">
                <a16:creationId xmlns:a16="http://schemas.microsoft.com/office/drawing/2014/main" id="{35522E17-6037-4CB3-8EDB-0332DCAB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3998" y="6492875"/>
            <a:ext cx="2743201" cy="365125"/>
          </a:xfrm>
          <a:noFill/>
        </p:spPr>
        <p:txBody>
          <a:bodyPr/>
          <a:lstStyle/>
          <a:p>
            <a:pPr algn="r"/>
            <a:r>
              <a:rPr lang="fr-FR" sz="1400" dirty="0">
                <a:solidFill>
                  <a:srgbClr val="94A3B8"/>
                </a:solidFill>
              </a:rPr>
              <a:t>Guillaume</a:t>
            </a:r>
            <a:r>
              <a:rPr lang="fr-FR" dirty="0">
                <a:solidFill>
                  <a:srgbClr val="94A3B8"/>
                </a:solidFill>
              </a:rPr>
              <a:t> Cazals</a:t>
            </a:r>
          </a:p>
        </p:txBody>
      </p:sp>
      <p:sp>
        <p:nvSpPr>
          <p:cNvPr id="16" name="Espace réservé du numéro de diapositive 7">
            <a:extLst>
              <a:ext uri="{FF2B5EF4-FFF2-40B4-BE49-F238E27FC236}">
                <a16:creationId xmlns:a16="http://schemas.microsoft.com/office/drawing/2014/main" id="{29CD26B4-320A-46D0-AC9B-D786DCB09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399" y="6477590"/>
            <a:ext cx="2743200" cy="357482"/>
          </a:xfrm>
        </p:spPr>
        <p:txBody>
          <a:bodyPr/>
          <a:lstStyle/>
          <a:p>
            <a:pPr algn="ctr"/>
            <a:r>
              <a:rPr lang="fr-FR" sz="1400" b="1" dirty="0">
                <a:solidFill>
                  <a:srgbClr val="38BDF8"/>
                </a:solidFill>
              </a:rPr>
              <a:t>15 / 19</a:t>
            </a:r>
          </a:p>
        </p:txBody>
      </p:sp>
    </p:spTree>
    <p:extLst>
      <p:ext uri="{BB962C8B-B14F-4D97-AF65-F5344CB8AC3E}">
        <p14:creationId xmlns:p14="http://schemas.microsoft.com/office/powerpoint/2010/main" val="3574307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3000">
              <a:srgbClr val="202E41"/>
            </a:gs>
            <a:gs pos="100000">
              <a:srgbClr val="0C17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6E650F08-31D0-499B-9D3F-D6B20597A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484" y="2794642"/>
            <a:ext cx="11702715" cy="3682948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Analyser et s’approprier la réutilisation de la librairie </a:t>
            </a:r>
            <a:r>
              <a:rPr lang="fr-FR" sz="2200" dirty="0" err="1"/>
              <a:t>otp</a:t>
            </a:r>
            <a:r>
              <a:rPr lang="fr-FR" sz="2200" dirty="0"/>
              <a:t>-java pour instancier un générateur / validateur TOTP (période, longueur du code, algorithme HMAC configurables).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Ajout d'un stockage sécurisé pour le secret TOTP par utilisateur (chiffrement au repos, contrôle d'accès).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Gérer la tolérance à la validation du code en comparant avec les code n et n-1 ?n+1?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Insister sur l’importance de l’horloge fiable côté serveur (point faible TOTP…!) -&gt; NTP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Adaptation des écrans de connexion et d'administration (activation / désactivation TOTP, gestion de secours).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DFCA518-F676-4D16-95AA-812FF7990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1048997" cy="1134454"/>
          </a:xfrm>
        </p:spPr>
        <p:txBody>
          <a:bodyPr>
            <a:normAutofit/>
          </a:bodyPr>
          <a:lstStyle/>
          <a:p>
            <a:pPr algn="l"/>
            <a:r>
              <a:rPr lang="fr-FR" sz="3600" b="1" dirty="0">
                <a:solidFill>
                  <a:srgbClr val="38BDF8"/>
                </a:solidFill>
                <a:latin typeface="Arial" panose="020B0604020202020204" pitchFamily="34" charset="0"/>
              </a:rPr>
              <a:t>Changements techniques pour le TOTP</a:t>
            </a:r>
            <a:endParaRPr lang="fr-FR" sz="3600" dirty="0"/>
          </a:p>
        </p:txBody>
      </p:sp>
      <p:sp>
        <p:nvSpPr>
          <p:cNvPr id="14" name="Espace réservé de la date 5">
            <a:extLst>
              <a:ext uri="{FF2B5EF4-FFF2-40B4-BE49-F238E27FC236}">
                <a16:creationId xmlns:a16="http://schemas.microsoft.com/office/drawing/2014/main" id="{C441865A-583D-4433-8785-3AEF13C2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4"/>
            <a:ext cx="2743200" cy="365125"/>
          </a:xfrm>
        </p:spPr>
        <p:txBody>
          <a:bodyPr/>
          <a:lstStyle/>
          <a:p>
            <a:fld id="{331479F7-D70E-4412-94F3-A6C320B143F3}" type="datetime1">
              <a:rPr lang="fr-FR" smtClean="0">
                <a:solidFill>
                  <a:srgbClr val="94A3B8"/>
                </a:solidFill>
              </a:rPr>
              <a:t>06/01/2026</a:t>
            </a:fld>
            <a:endParaRPr lang="fr-FR" dirty="0">
              <a:solidFill>
                <a:srgbClr val="94A3B8"/>
              </a:solidFill>
            </a:endParaRPr>
          </a:p>
        </p:txBody>
      </p:sp>
      <p:sp>
        <p:nvSpPr>
          <p:cNvPr id="15" name="Espace réservé du pied de page 6">
            <a:extLst>
              <a:ext uri="{FF2B5EF4-FFF2-40B4-BE49-F238E27FC236}">
                <a16:creationId xmlns:a16="http://schemas.microsoft.com/office/drawing/2014/main" id="{35522E17-6037-4CB3-8EDB-0332DCAB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3998" y="6492875"/>
            <a:ext cx="2743201" cy="365125"/>
          </a:xfrm>
          <a:noFill/>
        </p:spPr>
        <p:txBody>
          <a:bodyPr/>
          <a:lstStyle/>
          <a:p>
            <a:pPr algn="r"/>
            <a:r>
              <a:rPr lang="fr-FR" sz="1400" dirty="0">
                <a:solidFill>
                  <a:srgbClr val="94A3B8"/>
                </a:solidFill>
              </a:rPr>
              <a:t>Guillaume</a:t>
            </a:r>
            <a:r>
              <a:rPr lang="fr-FR" dirty="0">
                <a:solidFill>
                  <a:srgbClr val="94A3B8"/>
                </a:solidFill>
              </a:rPr>
              <a:t> Cazals</a:t>
            </a:r>
          </a:p>
        </p:txBody>
      </p:sp>
      <p:sp>
        <p:nvSpPr>
          <p:cNvPr id="16" name="Espace réservé du numéro de diapositive 7">
            <a:extLst>
              <a:ext uri="{FF2B5EF4-FFF2-40B4-BE49-F238E27FC236}">
                <a16:creationId xmlns:a16="http://schemas.microsoft.com/office/drawing/2014/main" id="{29CD26B4-320A-46D0-AC9B-D786DCB09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399" y="6477590"/>
            <a:ext cx="2743200" cy="357482"/>
          </a:xfrm>
        </p:spPr>
        <p:txBody>
          <a:bodyPr/>
          <a:lstStyle/>
          <a:p>
            <a:pPr algn="ctr"/>
            <a:r>
              <a:rPr lang="fr-FR" sz="1400" b="1" dirty="0">
                <a:solidFill>
                  <a:srgbClr val="38BDF8"/>
                </a:solidFill>
              </a:rPr>
              <a:t>16 / 19</a:t>
            </a:r>
          </a:p>
        </p:txBody>
      </p:sp>
    </p:spTree>
    <p:extLst>
      <p:ext uri="{BB962C8B-B14F-4D97-AF65-F5344CB8AC3E}">
        <p14:creationId xmlns:p14="http://schemas.microsoft.com/office/powerpoint/2010/main" val="3211056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3000">
              <a:srgbClr val="202E41"/>
            </a:gs>
            <a:gs pos="100000">
              <a:srgbClr val="0C17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6E650F08-31D0-499B-9D3F-D6B20597A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464" y="2794642"/>
            <a:ext cx="11710736" cy="2605048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Le passage de HOTP e‑mail à TOTP apporte des avantages décisifs 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Sécurité renforcée : génération locale, pas de transmission du code par e‑mail.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Meilleure UX : pas d'attente, fonctionne hors ligne.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Standard du marché : compatible avec tous les authentificateurs mobiles.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Réutilisation de </a:t>
            </a:r>
            <a:r>
              <a:rPr lang="fr-FR" sz="2200" dirty="0" err="1"/>
              <a:t>otp</a:t>
            </a:r>
            <a:r>
              <a:rPr lang="fr-FR" sz="2200" dirty="0"/>
              <a:t>-java : migration facilitée depuis HOTP.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DFCA518-F676-4D16-95AA-812FF7990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1048997" cy="1134454"/>
          </a:xfrm>
        </p:spPr>
        <p:txBody>
          <a:bodyPr>
            <a:normAutofit/>
          </a:bodyPr>
          <a:lstStyle/>
          <a:p>
            <a:pPr algn="l"/>
            <a:r>
              <a:rPr lang="fr-FR" sz="3600" b="1" dirty="0">
                <a:solidFill>
                  <a:srgbClr val="38BDF8"/>
                </a:solidFill>
                <a:latin typeface="Arial" panose="020B0604020202020204" pitchFamily="34" charset="0"/>
              </a:rPr>
              <a:t>Cible TOTP : vision d'ensemble</a:t>
            </a:r>
            <a:endParaRPr lang="fr-FR" sz="3600" dirty="0"/>
          </a:p>
        </p:txBody>
      </p:sp>
      <p:sp>
        <p:nvSpPr>
          <p:cNvPr id="14" name="Espace réservé de la date 5">
            <a:extLst>
              <a:ext uri="{FF2B5EF4-FFF2-40B4-BE49-F238E27FC236}">
                <a16:creationId xmlns:a16="http://schemas.microsoft.com/office/drawing/2014/main" id="{C441865A-583D-4433-8785-3AEF13C2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4"/>
            <a:ext cx="2743200" cy="365125"/>
          </a:xfrm>
        </p:spPr>
        <p:txBody>
          <a:bodyPr/>
          <a:lstStyle/>
          <a:p>
            <a:fld id="{331479F7-D70E-4412-94F3-A6C320B143F3}" type="datetime1">
              <a:rPr lang="fr-FR" smtClean="0">
                <a:solidFill>
                  <a:srgbClr val="94A3B8"/>
                </a:solidFill>
              </a:rPr>
              <a:t>06/01/2026</a:t>
            </a:fld>
            <a:endParaRPr lang="fr-FR" dirty="0">
              <a:solidFill>
                <a:srgbClr val="94A3B8"/>
              </a:solidFill>
            </a:endParaRPr>
          </a:p>
        </p:txBody>
      </p:sp>
      <p:sp>
        <p:nvSpPr>
          <p:cNvPr id="15" name="Espace réservé du pied de page 6">
            <a:extLst>
              <a:ext uri="{FF2B5EF4-FFF2-40B4-BE49-F238E27FC236}">
                <a16:creationId xmlns:a16="http://schemas.microsoft.com/office/drawing/2014/main" id="{35522E17-6037-4CB3-8EDB-0332DCAB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3998" y="6492875"/>
            <a:ext cx="2743201" cy="365125"/>
          </a:xfrm>
          <a:noFill/>
        </p:spPr>
        <p:txBody>
          <a:bodyPr/>
          <a:lstStyle/>
          <a:p>
            <a:pPr algn="r"/>
            <a:r>
              <a:rPr lang="fr-FR" sz="1400" dirty="0">
                <a:solidFill>
                  <a:srgbClr val="94A3B8"/>
                </a:solidFill>
              </a:rPr>
              <a:t>Guillaume</a:t>
            </a:r>
            <a:r>
              <a:rPr lang="fr-FR" dirty="0">
                <a:solidFill>
                  <a:srgbClr val="94A3B8"/>
                </a:solidFill>
              </a:rPr>
              <a:t> Cazals</a:t>
            </a:r>
          </a:p>
        </p:txBody>
      </p:sp>
      <p:sp>
        <p:nvSpPr>
          <p:cNvPr id="16" name="Espace réservé du numéro de diapositive 7">
            <a:extLst>
              <a:ext uri="{FF2B5EF4-FFF2-40B4-BE49-F238E27FC236}">
                <a16:creationId xmlns:a16="http://schemas.microsoft.com/office/drawing/2014/main" id="{29CD26B4-320A-46D0-AC9B-D786DCB09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399" y="6477590"/>
            <a:ext cx="2743200" cy="357482"/>
          </a:xfrm>
        </p:spPr>
        <p:txBody>
          <a:bodyPr/>
          <a:lstStyle/>
          <a:p>
            <a:pPr algn="ctr"/>
            <a:r>
              <a:rPr lang="fr-FR" sz="1400" b="1" dirty="0">
                <a:solidFill>
                  <a:srgbClr val="38BDF8"/>
                </a:solidFill>
              </a:rPr>
              <a:t>17 / 19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B3B104-08B2-4675-AD44-F6E24EAE2071}"/>
              </a:ext>
            </a:extLst>
          </p:cNvPr>
          <p:cNvSpPr/>
          <p:nvPr/>
        </p:nvSpPr>
        <p:spPr>
          <a:xfrm>
            <a:off x="328863" y="5735637"/>
            <a:ext cx="1111286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solidFill>
                  <a:srgbClr val="94A3B8"/>
                </a:solidFill>
                <a:latin typeface="Arial" panose="020B0604020202020204" pitchFamily="34" charset="0"/>
              </a:rPr>
              <a:t>Prochaines étapes : Analyse technique, conception détaillée, POC et déploiement.</a:t>
            </a:r>
            <a:endParaRPr lang="fr-FR" sz="1400" dirty="0">
              <a:solidFill>
                <a:srgbClr val="94A3B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7837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3000">
              <a:srgbClr val="202E41"/>
            </a:gs>
            <a:gs pos="100000">
              <a:srgbClr val="0C17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6E650F08-31D0-499B-9D3F-D6B20597A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1" y="2794642"/>
            <a:ext cx="11048998" cy="3698232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Algorithme HOTP et TOTP 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hlinkClick r:id="rId2"/>
              </a:rPr>
              <a:t>RFC 4226 - HOTP: An HMAC-Based One-Time Password Algorithm</a:t>
            </a:r>
            <a:endParaRPr lang="en-US" sz="1800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hlinkClick r:id="rId3"/>
              </a:rPr>
              <a:t>RFC 6238 - TOTP: Time-Based One-Time Password Algorithm</a:t>
            </a:r>
            <a:r>
              <a:rPr lang="fr-FR" sz="1800" dirty="0"/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Parcours utilisateur Miro : </a:t>
            </a:r>
            <a:r>
              <a:rPr lang="fr-FR" sz="2200" dirty="0">
                <a:hlinkClick r:id="rId4"/>
              </a:rPr>
              <a:t>ici</a:t>
            </a:r>
            <a:endParaRPr lang="fr-FR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Maquette paramétrage MFA  : </a:t>
            </a:r>
            <a:r>
              <a:rPr lang="fr-FR" sz="2200" dirty="0">
                <a:hlinkClick r:id="rId5"/>
              </a:rPr>
              <a:t>ici</a:t>
            </a:r>
            <a:endParaRPr lang="fr-FR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200" dirty="0"/>
              <a:t>Eléments techniques 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 err="1">
                <a:hlinkClick r:id="rId6"/>
              </a:rPr>
              <a:t>BastiaanJansen</a:t>
            </a:r>
            <a:r>
              <a:rPr lang="en-US" sz="1800" dirty="0">
                <a:hlinkClick r:id="rId6"/>
              </a:rPr>
              <a:t>/</a:t>
            </a:r>
            <a:r>
              <a:rPr lang="en-US" sz="1800" dirty="0" err="1">
                <a:hlinkClick r:id="rId6"/>
              </a:rPr>
              <a:t>otp</a:t>
            </a:r>
            <a:r>
              <a:rPr lang="en-US" sz="1800" dirty="0">
                <a:hlinkClick r:id="rId6"/>
              </a:rPr>
              <a:t>-java: library for Java implementing RFC 4226 (HOTP) and RFC 6238 (TOTP)</a:t>
            </a:r>
            <a:endParaRPr lang="en-US" sz="18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DFCA518-F676-4D16-95AA-812FF7990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1048997" cy="1134454"/>
          </a:xfrm>
        </p:spPr>
        <p:txBody>
          <a:bodyPr>
            <a:normAutofit/>
          </a:bodyPr>
          <a:lstStyle/>
          <a:p>
            <a:pPr algn="l"/>
            <a:r>
              <a:rPr lang="fr-FR" sz="3600" b="1" dirty="0">
                <a:solidFill>
                  <a:srgbClr val="38BDF8"/>
                </a:solidFill>
                <a:latin typeface="Arial" panose="020B0604020202020204" pitchFamily="34" charset="0"/>
              </a:rPr>
              <a:t>Références et webographie</a:t>
            </a:r>
            <a:endParaRPr lang="fr-FR" sz="3600" dirty="0"/>
          </a:p>
        </p:txBody>
      </p:sp>
      <p:sp>
        <p:nvSpPr>
          <p:cNvPr id="14" name="Espace réservé de la date 5">
            <a:extLst>
              <a:ext uri="{FF2B5EF4-FFF2-40B4-BE49-F238E27FC236}">
                <a16:creationId xmlns:a16="http://schemas.microsoft.com/office/drawing/2014/main" id="{C441865A-583D-4433-8785-3AEF13C2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4"/>
            <a:ext cx="2743200" cy="365125"/>
          </a:xfrm>
        </p:spPr>
        <p:txBody>
          <a:bodyPr/>
          <a:lstStyle/>
          <a:p>
            <a:fld id="{331479F7-D70E-4412-94F3-A6C320B143F3}" type="datetime1">
              <a:rPr lang="fr-FR" smtClean="0">
                <a:solidFill>
                  <a:srgbClr val="94A3B8"/>
                </a:solidFill>
              </a:rPr>
              <a:t>06/01/2026</a:t>
            </a:fld>
            <a:endParaRPr lang="fr-FR" dirty="0">
              <a:solidFill>
                <a:srgbClr val="94A3B8"/>
              </a:solidFill>
            </a:endParaRPr>
          </a:p>
        </p:txBody>
      </p:sp>
      <p:sp>
        <p:nvSpPr>
          <p:cNvPr id="15" name="Espace réservé du pied de page 6">
            <a:extLst>
              <a:ext uri="{FF2B5EF4-FFF2-40B4-BE49-F238E27FC236}">
                <a16:creationId xmlns:a16="http://schemas.microsoft.com/office/drawing/2014/main" id="{35522E17-6037-4CB3-8EDB-0332DCAB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3998" y="6492875"/>
            <a:ext cx="2743201" cy="365125"/>
          </a:xfrm>
          <a:noFill/>
        </p:spPr>
        <p:txBody>
          <a:bodyPr/>
          <a:lstStyle/>
          <a:p>
            <a:pPr algn="r"/>
            <a:r>
              <a:rPr lang="fr-FR" sz="1400" dirty="0">
                <a:solidFill>
                  <a:srgbClr val="94A3B8"/>
                </a:solidFill>
              </a:rPr>
              <a:t>Guillaume</a:t>
            </a:r>
            <a:r>
              <a:rPr lang="fr-FR" dirty="0">
                <a:solidFill>
                  <a:srgbClr val="94A3B8"/>
                </a:solidFill>
              </a:rPr>
              <a:t> Cazals</a:t>
            </a:r>
          </a:p>
        </p:txBody>
      </p:sp>
      <p:sp>
        <p:nvSpPr>
          <p:cNvPr id="16" name="Espace réservé du numéro de diapositive 7">
            <a:extLst>
              <a:ext uri="{FF2B5EF4-FFF2-40B4-BE49-F238E27FC236}">
                <a16:creationId xmlns:a16="http://schemas.microsoft.com/office/drawing/2014/main" id="{29CD26B4-320A-46D0-AC9B-D786DCB09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399" y="6477590"/>
            <a:ext cx="2743200" cy="357482"/>
          </a:xfrm>
        </p:spPr>
        <p:txBody>
          <a:bodyPr/>
          <a:lstStyle/>
          <a:p>
            <a:pPr algn="ctr"/>
            <a:r>
              <a:rPr lang="fr-FR" sz="1400" b="1" dirty="0">
                <a:solidFill>
                  <a:srgbClr val="38BDF8"/>
                </a:solidFill>
              </a:rPr>
              <a:t>18 / 19</a:t>
            </a:r>
          </a:p>
        </p:txBody>
      </p:sp>
    </p:spTree>
    <p:extLst>
      <p:ext uri="{BB962C8B-B14F-4D97-AF65-F5344CB8AC3E}">
        <p14:creationId xmlns:p14="http://schemas.microsoft.com/office/powerpoint/2010/main" val="5597190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3000">
              <a:srgbClr val="273548"/>
            </a:gs>
            <a:gs pos="100000">
              <a:srgbClr val="0C17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6E650F08-31D0-499B-9D3F-D6B20597A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731794"/>
          </a:xfrm>
        </p:spPr>
        <p:txBody>
          <a:bodyPr>
            <a:normAutofit fontScale="92500" lnSpcReduction="20000"/>
          </a:bodyPr>
          <a:lstStyle/>
          <a:p>
            <a:r>
              <a:rPr lang="fr-FR" dirty="0">
                <a:solidFill>
                  <a:srgbClr val="CBD5E1"/>
                </a:solidFill>
              </a:rPr>
              <a:t>? Questions ?</a:t>
            </a:r>
          </a:p>
          <a:p>
            <a:r>
              <a:rPr lang="fr-FR" dirty="0">
                <a:solidFill>
                  <a:srgbClr val="CBD5E1"/>
                </a:solidFill>
              </a:rPr>
              <a:t>?Démo?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9E0E18-1E22-48D4-A2BA-534FF80BA0A3}"/>
              </a:ext>
            </a:extLst>
          </p:cNvPr>
          <p:cNvSpPr/>
          <p:nvPr/>
        </p:nvSpPr>
        <p:spPr>
          <a:xfrm>
            <a:off x="4278611" y="4333832"/>
            <a:ext cx="23063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solidFill>
                  <a:srgbClr val="94A3B8"/>
                </a:solidFill>
                <a:latin typeface="Arial" panose="020B0604020202020204" pitchFamily="34" charset="0"/>
              </a:rPr>
              <a:t>Projet MFA TOTP  — Kelio</a:t>
            </a:r>
            <a:endParaRPr lang="fr-FR" sz="1400" dirty="0">
              <a:solidFill>
                <a:srgbClr val="94A3B8"/>
              </a:solidFill>
            </a:endParaRPr>
          </a:p>
        </p:txBody>
      </p:sp>
      <p:sp>
        <p:nvSpPr>
          <p:cNvPr id="14" name="Espace réservé de la date 5">
            <a:extLst>
              <a:ext uri="{FF2B5EF4-FFF2-40B4-BE49-F238E27FC236}">
                <a16:creationId xmlns:a16="http://schemas.microsoft.com/office/drawing/2014/main" id="{C441865A-583D-4433-8785-3AEF13C2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4"/>
            <a:ext cx="2743200" cy="365125"/>
          </a:xfrm>
        </p:spPr>
        <p:txBody>
          <a:bodyPr/>
          <a:lstStyle/>
          <a:p>
            <a:r>
              <a:rPr lang="fr-FR" dirty="0">
                <a:solidFill>
                  <a:srgbClr val="94A3B8"/>
                </a:solidFill>
              </a:rPr>
              <a:t>12/12/2025</a:t>
            </a:r>
          </a:p>
        </p:txBody>
      </p:sp>
      <p:sp>
        <p:nvSpPr>
          <p:cNvPr id="15" name="Espace réservé du pied de page 6">
            <a:extLst>
              <a:ext uri="{FF2B5EF4-FFF2-40B4-BE49-F238E27FC236}">
                <a16:creationId xmlns:a16="http://schemas.microsoft.com/office/drawing/2014/main" id="{35522E17-6037-4CB3-8EDB-0332DCAB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3998" y="6492875"/>
            <a:ext cx="2743201" cy="365125"/>
          </a:xfrm>
          <a:noFill/>
        </p:spPr>
        <p:txBody>
          <a:bodyPr/>
          <a:lstStyle/>
          <a:p>
            <a:pPr algn="r"/>
            <a:r>
              <a:rPr lang="fr-FR" sz="1400" dirty="0">
                <a:solidFill>
                  <a:srgbClr val="94A3B8"/>
                </a:solidFill>
              </a:rPr>
              <a:t>Guillaume</a:t>
            </a:r>
            <a:r>
              <a:rPr lang="fr-FR" dirty="0">
                <a:solidFill>
                  <a:srgbClr val="94A3B8"/>
                </a:solidFill>
              </a:rPr>
              <a:t> Cazals</a:t>
            </a:r>
          </a:p>
        </p:txBody>
      </p:sp>
      <p:sp>
        <p:nvSpPr>
          <p:cNvPr id="16" name="Espace réservé du numéro de diapositive 7">
            <a:extLst>
              <a:ext uri="{FF2B5EF4-FFF2-40B4-BE49-F238E27FC236}">
                <a16:creationId xmlns:a16="http://schemas.microsoft.com/office/drawing/2014/main" id="{29CD26B4-320A-46D0-AC9B-D786DCB09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399" y="6477590"/>
            <a:ext cx="2743200" cy="357482"/>
          </a:xfrm>
        </p:spPr>
        <p:txBody>
          <a:bodyPr/>
          <a:lstStyle/>
          <a:p>
            <a:pPr algn="ctr"/>
            <a:r>
              <a:rPr lang="fr-FR" sz="1400" b="1" dirty="0">
                <a:solidFill>
                  <a:srgbClr val="38BDF8"/>
                </a:solidFill>
              </a:rPr>
              <a:t>19 / 19</a:t>
            </a:r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DED2ED93-6972-4496-A87C-99A864A75AAB}"/>
              </a:ext>
            </a:extLst>
          </p:cNvPr>
          <p:cNvSpPr txBox="1">
            <a:spLocks/>
          </p:cNvSpPr>
          <p:nvPr/>
        </p:nvSpPr>
        <p:spPr>
          <a:xfrm>
            <a:off x="733097" y="1122363"/>
            <a:ext cx="11154102" cy="11344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3600" b="1" dirty="0">
                <a:solidFill>
                  <a:srgbClr val="38BDF8"/>
                </a:solidFill>
                <a:latin typeface="Arial" panose="020B0604020202020204" pitchFamily="34" charset="0"/>
              </a:rPr>
              <a:t>Fin : Merci de votre attention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1022716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1141</TotalTime>
  <Words>1607</Words>
  <Application>Microsoft Office PowerPoint</Application>
  <PresentationFormat>Grand écran</PresentationFormat>
  <Paragraphs>168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Wingdings</vt:lpstr>
      <vt:lpstr>Office Theme</vt:lpstr>
      <vt:lpstr>MFA dans Kelio : de HOTP e‑mail à TOTP </vt:lpstr>
      <vt:lpstr>Objectifs de la présentation</vt:lpstr>
      <vt:lpstr>Contexte général du MFA dans Kelio</vt:lpstr>
      <vt:lpstr>Rappel : HOTP (RFC 4226)</vt:lpstr>
      <vt:lpstr>MFA actuel dans Kelio : vue fonctionnelle</vt:lpstr>
      <vt:lpstr>MFA actuel Kelio : aspects techniques</vt:lpstr>
      <vt:lpstr>Points forts du MFA actuel</vt:lpstr>
      <vt:lpstr>Limites et irritants de la solution HOTP + e‑mail</vt:lpstr>
      <vt:lpstr>Pourquoi viser le TOTP dans Kelio ?</vt:lpstr>
      <vt:lpstr>Rôle de la librairie otp-java pour la cible TOTP</vt:lpstr>
      <vt:lpstr>Synthèse &amp; suite</vt:lpstr>
      <vt:lpstr>Parcours utilisateur avec MFA : TOTP</vt:lpstr>
      <vt:lpstr>Enregistrement initial TOTP : principe</vt:lpstr>
      <vt:lpstr>Génération du secret &amp; QR code</vt:lpstr>
      <vt:lpstr>Vérification de l'appareil lors de l'activation</vt:lpstr>
      <vt:lpstr>Connexion avec TOTP activé</vt:lpstr>
      <vt:lpstr>Changements techniques pour le TOTP</vt:lpstr>
      <vt:lpstr>Cible TOTP : vision d'ensemble</vt:lpstr>
      <vt:lpstr>Références et webographie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Cazals Guillaume</dc:creator>
  <cp:lastModifiedBy>Guillaume cazals</cp:lastModifiedBy>
  <cp:revision>51</cp:revision>
  <dcterms:created xsi:type="dcterms:W3CDTF">2025-12-05T10:15:26Z</dcterms:created>
  <dcterms:modified xsi:type="dcterms:W3CDTF">2026-01-06T14:53:59Z</dcterms:modified>
</cp:coreProperties>
</file>